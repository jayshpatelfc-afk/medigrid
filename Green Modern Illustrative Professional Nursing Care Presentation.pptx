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Lato" panose="020B0604020202020204" charset="0"/>
      <p:regular r:id="rId18"/>
    </p:embeddedFont>
    <p:embeddedFont>
      <p:font typeface="Lato Bold" panose="020B0604020202020204" charset="0"/>
      <p:regular r:id="rId19"/>
    </p:embeddedFont>
    <p:embeddedFont>
      <p:font typeface="Playfair Display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1" d="100"/>
          <a:sy n="51" d="100"/>
        </p:scale>
        <p:origin x="1214" y="1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683658" y="5294707"/>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1" y="-300990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3075868" y="3031307"/>
            <a:ext cx="12136264" cy="3131178"/>
          </a:xfrm>
          <a:prstGeom prst="rect">
            <a:avLst/>
          </a:prstGeom>
        </p:spPr>
        <p:txBody>
          <a:bodyPr lIns="0" tIns="0" rIns="0" bIns="0" rtlCol="0" anchor="t">
            <a:spAutoFit/>
          </a:bodyPr>
          <a:lstStyle/>
          <a:p>
            <a:pPr algn="ctr">
              <a:lnSpc>
                <a:spcPts val="13080"/>
              </a:lnSpc>
            </a:pPr>
            <a:r>
              <a:rPr lang="en-US" sz="12000" b="1" dirty="0" smtClean="0">
                <a:solidFill>
                  <a:srgbClr val="234157"/>
                </a:solidFill>
                <a:latin typeface="Playfair Display Bold"/>
                <a:ea typeface="Playfair Display Bold"/>
                <a:cs typeface="Playfair Display Bold"/>
                <a:sym typeface="Playfair Display Bold"/>
              </a:rPr>
              <a:t>MEDIGRID</a:t>
            </a:r>
          </a:p>
          <a:p>
            <a:pPr algn="ctr">
              <a:lnSpc>
                <a:spcPts val="13080"/>
              </a:lnSpc>
            </a:pPr>
            <a:r>
              <a:rPr lang="en-US" sz="6600" b="1" dirty="0" smtClean="0">
                <a:solidFill>
                  <a:srgbClr val="234157"/>
                </a:solidFill>
                <a:latin typeface="Playfair Display Bold"/>
                <a:ea typeface="Playfair Display Bold"/>
                <a:cs typeface="Playfair Display Bold"/>
                <a:sym typeface="Playfair Display Bold"/>
              </a:rPr>
              <a:t>OPERATIONAL SYSTEM</a:t>
            </a:r>
            <a:endParaRPr lang="en-US" sz="6600" b="1" dirty="0">
              <a:solidFill>
                <a:srgbClr val="234157"/>
              </a:solidFill>
              <a:latin typeface="Playfair Display Bold"/>
              <a:ea typeface="Playfair Display Bold"/>
              <a:cs typeface="Playfair Display Bold"/>
              <a:sym typeface="Playfair Display Bold"/>
            </a:endParaRPr>
          </a:p>
        </p:txBody>
      </p:sp>
      <p:grpSp>
        <p:nvGrpSpPr>
          <p:cNvPr id="9" name="Group 9"/>
          <p:cNvGrpSpPr/>
          <p:nvPr/>
        </p:nvGrpSpPr>
        <p:grpSpPr>
          <a:xfrm>
            <a:off x="4953000" y="6764786"/>
            <a:ext cx="7924800" cy="2874514"/>
            <a:chOff x="0" y="0"/>
            <a:chExt cx="1800647" cy="277213"/>
          </a:xfrm>
        </p:grpSpPr>
        <p:sp>
          <p:nvSpPr>
            <p:cNvPr id="10" name="Freeform 10"/>
            <p:cNvSpPr/>
            <p:nvPr/>
          </p:nvSpPr>
          <p:spPr>
            <a:xfrm>
              <a:off x="0" y="0"/>
              <a:ext cx="1800647" cy="277213"/>
            </a:xfrm>
            <a:custGeom>
              <a:avLst/>
              <a:gdLst/>
              <a:ahLst/>
              <a:cxnLst/>
              <a:rect l="l" t="t" r="r" b="b"/>
              <a:pathLst>
                <a:path w="1800647" h="277213">
                  <a:moveTo>
                    <a:pt x="57752" y="0"/>
                  </a:moveTo>
                  <a:lnTo>
                    <a:pt x="1742896" y="0"/>
                  </a:lnTo>
                  <a:cubicBezTo>
                    <a:pt x="1758213" y="0"/>
                    <a:pt x="1772902" y="6085"/>
                    <a:pt x="1783732" y="16915"/>
                  </a:cubicBezTo>
                  <a:cubicBezTo>
                    <a:pt x="1794563" y="27746"/>
                    <a:pt x="1800647" y="42435"/>
                    <a:pt x="1800647" y="57752"/>
                  </a:cubicBezTo>
                  <a:lnTo>
                    <a:pt x="1800647" y="219462"/>
                  </a:lnTo>
                  <a:cubicBezTo>
                    <a:pt x="1800647" y="234778"/>
                    <a:pt x="1794563" y="249468"/>
                    <a:pt x="1783732" y="260298"/>
                  </a:cubicBezTo>
                  <a:cubicBezTo>
                    <a:pt x="1772902" y="271129"/>
                    <a:pt x="1758213" y="277213"/>
                    <a:pt x="1742896" y="277213"/>
                  </a:cubicBezTo>
                  <a:lnTo>
                    <a:pt x="57752" y="277213"/>
                  </a:lnTo>
                  <a:cubicBezTo>
                    <a:pt x="42435" y="277213"/>
                    <a:pt x="27746" y="271129"/>
                    <a:pt x="16915" y="260298"/>
                  </a:cubicBezTo>
                  <a:cubicBezTo>
                    <a:pt x="6085" y="249468"/>
                    <a:pt x="0" y="234778"/>
                    <a:pt x="0" y="219462"/>
                  </a:cubicBezTo>
                  <a:lnTo>
                    <a:pt x="0" y="57752"/>
                  </a:lnTo>
                  <a:cubicBezTo>
                    <a:pt x="0" y="42435"/>
                    <a:pt x="6085" y="27746"/>
                    <a:pt x="16915" y="16915"/>
                  </a:cubicBezTo>
                  <a:cubicBezTo>
                    <a:pt x="27746" y="6085"/>
                    <a:pt x="42435" y="0"/>
                    <a:pt x="57752" y="0"/>
                  </a:cubicBezTo>
                  <a:close/>
                </a:path>
              </a:pathLst>
            </a:custGeom>
            <a:solidFill>
              <a:srgbClr val="F1E7D8"/>
            </a:solidFill>
          </p:spPr>
        </p:sp>
        <p:sp>
          <p:nvSpPr>
            <p:cNvPr id="11" name="TextBox 11"/>
            <p:cNvSpPr txBox="1"/>
            <p:nvPr/>
          </p:nvSpPr>
          <p:spPr>
            <a:xfrm>
              <a:off x="0" y="-38100"/>
              <a:ext cx="1800647" cy="315313"/>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343400" y="6764786"/>
            <a:ext cx="8534400" cy="2462213"/>
          </a:xfrm>
          <a:prstGeom prst="rect">
            <a:avLst/>
          </a:prstGeom>
        </p:spPr>
        <p:txBody>
          <a:bodyPr wrap="square" lIns="0" tIns="0" rIns="0" bIns="0" rtlCol="0" anchor="t">
            <a:spAutoFit/>
          </a:bodyPr>
          <a:lstStyle/>
          <a:p>
            <a:pPr algn="ctr">
              <a:lnSpc>
                <a:spcPts val="4759"/>
              </a:lnSpc>
            </a:pPr>
            <a:r>
              <a:rPr lang="en-US" sz="3399" dirty="0">
                <a:solidFill>
                  <a:srgbClr val="234157"/>
                </a:solidFill>
                <a:latin typeface="Lato"/>
                <a:ea typeface="Lato"/>
                <a:cs typeface="Lato"/>
                <a:sym typeface="Lato"/>
              </a:rPr>
              <a:t>T</a:t>
            </a:r>
            <a:r>
              <a:rPr lang="en-US" sz="3399" dirty="0" smtClean="0">
                <a:solidFill>
                  <a:srgbClr val="234157"/>
                </a:solidFill>
                <a:latin typeface="Lato"/>
                <a:ea typeface="Lato"/>
                <a:cs typeface="Lato"/>
                <a:sym typeface="Lato"/>
              </a:rPr>
              <a:t>eam Members</a:t>
            </a:r>
            <a:r>
              <a:rPr lang="en-US" sz="3399" dirty="0" smtClean="0">
                <a:solidFill>
                  <a:srgbClr val="234157"/>
                </a:solidFill>
                <a:latin typeface="Lato"/>
                <a:ea typeface="Lato"/>
                <a:cs typeface="Lato"/>
                <a:sym typeface="Lato"/>
              </a:rPr>
              <a:t> </a:t>
            </a:r>
            <a:r>
              <a:rPr lang="en-US" sz="3399"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Sarada</a:t>
            </a:r>
            <a:r>
              <a:rPr lang="en-US" sz="2800"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Prasanna</a:t>
            </a:r>
            <a:r>
              <a:rPr lang="en-US" sz="2800"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Biswal</a:t>
            </a:r>
            <a:endParaRPr lang="en-US" sz="2800" dirty="0">
              <a:solidFill>
                <a:srgbClr val="234157"/>
              </a:solidFill>
              <a:latin typeface="Lato"/>
              <a:ea typeface="Lato"/>
              <a:cs typeface="Lato"/>
              <a:sym typeface="Lato"/>
            </a:endParaRPr>
          </a:p>
          <a:p>
            <a:pPr algn="ctr">
              <a:lnSpc>
                <a:spcPts val="4759"/>
              </a:lnSpc>
            </a:pPr>
            <a:r>
              <a:rPr lang="en-US" sz="2800"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Jaysh</a:t>
            </a:r>
            <a:r>
              <a:rPr lang="en-US" sz="2800"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patel</a:t>
            </a:r>
            <a:endParaRPr lang="en-US" sz="2800" dirty="0" smtClean="0">
              <a:solidFill>
                <a:srgbClr val="234157"/>
              </a:solidFill>
              <a:latin typeface="Lato"/>
              <a:ea typeface="Lato"/>
              <a:cs typeface="Lato"/>
              <a:sym typeface="Lato"/>
            </a:endParaRPr>
          </a:p>
          <a:p>
            <a:pPr algn="ctr">
              <a:lnSpc>
                <a:spcPts val="4759"/>
              </a:lnSpc>
            </a:pPr>
            <a:r>
              <a:rPr lang="en-US" sz="2800" dirty="0" smtClean="0">
                <a:solidFill>
                  <a:srgbClr val="234157"/>
                </a:solidFill>
                <a:latin typeface="Lato"/>
                <a:ea typeface="Lato"/>
                <a:cs typeface="Lato"/>
                <a:sym typeface="Lato"/>
              </a:rPr>
              <a:t>                                          Priyanka </a:t>
            </a:r>
            <a:r>
              <a:rPr lang="en-US" sz="2800" dirty="0" err="1" smtClean="0">
                <a:solidFill>
                  <a:srgbClr val="234157"/>
                </a:solidFill>
                <a:latin typeface="Lato"/>
                <a:ea typeface="Lato"/>
                <a:cs typeface="Lato"/>
                <a:sym typeface="Lato"/>
              </a:rPr>
              <a:t>Priyadarshini</a:t>
            </a:r>
            <a:r>
              <a:rPr lang="en-US" sz="2800" dirty="0" smtClean="0">
                <a:solidFill>
                  <a:srgbClr val="234157"/>
                </a:solidFill>
                <a:latin typeface="Lato"/>
                <a:ea typeface="Lato"/>
                <a:cs typeface="Lato"/>
                <a:sym typeface="Lato"/>
              </a:rPr>
              <a:t> Dalai</a:t>
            </a:r>
          </a:p>
          <a:p>
            <a:pPr algn="ctr">
              <a:lnSpc>
                <a:spcPts val="4759"/>
              </a:lnSpc>
            </a:pPr>
            <a:r>
              <a:rPr lang="en-US" sz="2800"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Supriya</a:t>
            </a:r>
            <a:r>
              <a:rPr lang="en-US" sz="2800" dirty="0" smtClean="0">
                <a:solidFill>
                  <a:srgbClr val="234157"/>
                </a:solidFill>
                <a:latin typeface="Lato"/>
                <a:ea typeface="Lato"/>
                <a:cs typeface="Lato"/>
                <a:sym typeface="Lato"/>
              </a:rPr>
              <a:t> </a:t>
            </a:r>
            <a:r>
              <a:rPr lang="en-US" sz="2800" dirty="0" err="1" smtClean="0">
                <a:solidFill>
                  <a:srgbClr val="234157"/>
                </a:solidFill>
                <a:latin typeface="Lato"/>
                <a:ea typeface="Lato"/>
                <a:cs typeface="Lato"/>
                <a:sym typeface="Lato"/>
              </a:rPr>
              <a:t>Mohapatra</a:t>
            </a:r>
            <a:endParaRPr lang="en-US" sz="2800" dirty="0" smtClean="0">
              <a:solidFill>
                <a:srgbClr val="234157"/>
              </a:solidFill>
              <a:latin typeface="Lato"/>
              <a:ea typeface="Lato"/>
              <a:cs typeface="Lato"/>
              <a:sym typeface="Lato"/>
            </a:endParaRPr>
          </a:p>
        </p:txBody>
      </p:sp>
      <p:sp>
        <p:nvSpPr>
          <p:cNvPr id="13" name="Round Same Side Corner Rectangle 12"/>
          <p:cNvSpPr/>
          <p:nvPr/>
        </p:nvSpPr>
        <p:spPr>
          <a:xfrm>
            <a:off x="5920878" y="170521"/>
            <a:ext cx="5509121" cy="934379"/>
          </a:xfrm>
          <a:prstGeom prst="round2Same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4000" b="1" dirty="0" smtClean="0">
                <a:ln w="0">
                  <a:solidFill>
                    <a:schemeClr val="accent1"/>
                  </a:solidFill>
                </a:ln>
                <a:solidFill>
                  <a:schemeClr val="accent1"/>
                </a:solidFill>
                <a:effectLst>
                  <a:outerShdw blurRad="38100" dist="25400" dir="5400000" algn="ctr" rotWithShape="0">
                    <a:srgbClr val="6E747A">
                      <a:alpha val="43000"/>
                    </a:srgbClr>
                  </a:outerShdw>
                </a:effectLst>
              </a:rPr>
              <a:t>MEDICOVER HOSPITALS</a:t>
            </a:r>
            <a:endParaRPr lang="en-IN" sz="4000" b="1" dirty="0">
              <a:ln w="0">
                <a:solidFill>
                  <a:schemeClr val="accent1"/>
                </a:solidFill>
              </a:ln>
              <a:solidFill>
                <a:schemeClr val="accent1"/>
              </a:solidFill>
              <a:effectLst>
                <a:outerShdw blurRad="38100" dist="25400" dir="5400000" algn="ctr" rotWithShape="0">
                  <a:srgbClr val="6E747A">
                    <a:alpha val="43000"/>
                  </a:srgbClr>
                </a:outerShdw>
              </a:effectLst>
            </a:endParaRPr>
          </a:p>
        </p:txBody>
      </p:sp>
      <p:sp>
        <p:nvSpPr>
          <p:cNvPr id="14" name="TextBox 13"/>
          <p:cNvSpPr txBox="1"/>
          <p:nvPr/>
        </p:nvSpPr>
        <p:spPr>
          <a:xfrm>
            <a:off x="7117081" y="952500"/>
            <a:ext cx="45719" cy="369332"/>
          </a:xfrm>
          <a:prstGeom prst="rect">
            <a:avLst/>
          </a:prstGeom>
          <a:noFill/>
        </p:spPr>
        <p:txBody>
          <a:bodyPr wrap="square" rtlCol="0">
            <a:spAutoFit/>
          </a:bodyPr>
          <a:lstStyle/>
          <a:p>
            <a:endParaRPr lang="en-IN" dirty="0"/>
          </a:p>
        </p:txBody>
      </p:sp>
      <p:sp>
        <p:nvSpPr>
          <p:cNvPr id="16" name="Oval 15"/>
          <p:cNvSpPr/>
          <p:nvPr/>
        </p:nvSpPr>
        <p:spPr>
          <a:xfrm>
            <a:off x="5920879" y="1499307"/>
            <a:ext cx="5509120" cy="10213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b="1" dirty="0" smtClean="0"/>
              <a:t>TEAM INNOVISION</a:t>
            </a:r>
            <a:endParaRPr lang="en-IN"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5168719" y="1095375"/>
            <a:ext cx="7950562" cy="752642"/>
          </a:xfrm>
          <a:prstGeom prst="rect">
            <a:avLst/>
          </a:prstGeom>
        </p:spPr>
        <p:txBody>
          <a:bodyPr lIns="0" tIns="0" rIns="0" bIns="0" rtlCol="0" anchor="t">
            <a:spAutoFit/>
          </a:bodyPr>
          <a:lstStyle/>
          <a:p>
            <a:pPr algn="ctr">
              <a:lnSpc>
                <a:spcPts val="6540"/>
              </a:lnSpc>
            </a:pPr>
            <a:r>
              <a:rPr lang="en-US" sz="4400" b="1" dirty="0" smtClean="0">
                <a:solidFill>
                  <a:srgbClr val="234157"/>
                </a:solidFill>
                <a:latin typeface="Playfair Display Bold"/>
                <a:ea typeface="Playfair Display Bold"/>
                <a:cs typeface="Playfair Display Bold"/>
                <a:sym typeface="Playfair Display Bold"/>
              </a:rPr>
              <a:t>THE CURRENT LANDSCAPE</a:t>
            </a:r>
            <a:endParaRPr lang="en-US" sz="4400" b="1" dirty="0">
              <a:solidFill>
                <a:srgbClr val="234157"/>
              </a:solidFill>
              <a:latin typeface="Playfair Display Bold"/>
              <a:ea typeface="Playfair Display Bold"/>
              <a:cs typeface="Playfair Display Bold"/>
              <a:sym typeface="Playfair Display Bold"/>
            </a:endParaRPr>
          </a:p>
        </p:txBody>
      </p:sp>
      <p:sp>
        <p:nvSpPr>
          <p:cNvPr id="9" name="TextBox 9"/>
          <p:cNvSpPr txBox="1"/>
          <p:nvPr/>
        </p:nvSpPr>
        <p:spPr>
          <a:xfrm>
            <a:off x="4359682" y="3464309"/>
            <a:ext cx="9568636" cy="4314001"/>
          </a:xfrm>
          <a:prstGeom prst="rect">
            <a:avLst/>
          </a:prstGeom>
        </p:spPr>
        <p:txBody>
          <a:bodyPr lIns="0" tIns="0" rIns="0" bIns="0" rtlCol="0" anchor="t">
            <a:spAutoFit/>
          </a:bodyPr>
          <a:lstStyle/>
          <a:p>
            <a:r>
              <a:rPr lang="en-US" sz="2800" b="1" dirty="0"/>
              <a:t>Data Silos</a:t>
            </a:r>
          </a:p>
          <a:p>
            <a:r>
              <a:rPr lang="en-US" sz="2800" dirty="0"/>
              <a:t>Critical information is spread across different hospital systems, making it difficult to get a complete operational view.</a:t>
            </a:r>
          </a:p>
          <a:p>
            <a:r>
              <a:rPr lang="en-US" sz="2800" b="1" dirty="0"/>
              <a:t>Patient Flow Delays</a:t>
            </a:r>
          </a:p>
          <a:p>
            <a:r>
              <a:rPr lang="en-US" sz="2800" dirty="0"/>
              <a:t>Delays in admissions, discharges, bed allocation, and laboratory processes can create operational bottlenecks.</a:t>
            </a:r>
          </a:p>
          <a:p>
            <a:r>
              <a:rPr lang="en-US" sz="2800" b="1" dirty="0"/>
              <a:t>Resource Inefficiency</a:t>
            </a:r>
          </a:p>
          <a:p>
            <a:r>
              <a:rPr lang="en-US" sz="2800" dirty="0"/>
              <a:t>Limited visibility into bed occupancy and operational activity can affect how efficiently hospital resources are utilized.</a:t>
            </a:r>
          </a:p>
          <a:p>
            <a:pPr algn="ctr">
              <a:lnSpc>
                <a:spcPts val="3359"/>
              </a:lnSpc>
            </a:pPr>
            <a:r>
              <a:rPr lang="en-US" sz="2400" dirty="0" smtClean="0">
                <a:solidFill>
                  <a:srgbClr val="234157"/>
                </a:solidFill>
                <a:latin typeface="Lato"/>
                <a:ea typeface="Lato"/>
                <a:cs typeface="Lato"/>
                <a:sym typeface="Lato"/>
              </a:rPr>
              <a:t>.</a:t>
            </a:r>
            <a:endParaRPr lang="en-US" sz="2400" dirty="0">
              <a:solidFill>
                <a:srgbClr val="234157"/>
              </a:solidFill>
              <a:latin typeface="Lato"/>
              <a:ea typeface="Lato"/>
              <a:cs typeface="Lato"/>
              <a:sym typeface="Lato"/>
            </a:endParaRPr>
          </a:p>
        </p:txBody>
      </p:sp>
      <p:sp>
        <p:nvSpPr>
          <p:cNvPr id="10" name="Rounded Rectangle 9"/>
          <p:cNvSpPr/>
          <p:nvPr/>
        </p:nvSpPr>
        <p:spPr>
          <a:xfrm>
            <a:off x="5448300" y="2019300"/>
            <a:ext cx="73533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Challenges in Modern Healthcare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5168719" y="1095375"/>
            <a:ext cx="7950562" cy="845820"/>
          </a:xfrm>
          <a:prstGeom prst="rect">
            <a:avLst/>
          </a:prstGeom>
        </p:spPr>
        <p:txBody>
          <a:bodyPr lIns="0" tIns="0" rIns="0" bIns="0" rtlCol="0" anchor="t">
            <a:spAutoFit/>
          </a:bodyPr>
          <a:lstStyle/>
          <a:p>
            <a:pPr algn="ctr">
              <a:lnSpc>
                <a:spcPts val="6540"/>
              </a:lnSpc>
            </a:pPr>
            <a:r>
              <a:rPr lang="en-US" sz="6000" b="1">
                <a:solidFill>
                  <a:srgbClr val="234157"/>
                </a:solidFill>
                <a:latin typeface="Playfair Display Bold"/>
                <a:ea typeface="Playfair Display Bold"/>
                <a:cs typeface="Playfair Display Bold"/>
                <a:sym typeface="Playfair Display Bold"/>
              </a:rPr>
              <a:t>What Is Nursing?</a:t>
            </a:r>
          </a:p>
        </p:txBody>
      </p:sp>
      <p:sp>
        <p:nvSpPr>
          <p:cNvPr id="9" name="TextBox 9"/>
          <p:cNvSpPr txBox="1"/>
          <p:nvPr/>
        </p:nvSpPr>
        <p:spPr>
          <a:xfrm>
            <a:off x="4359682" y="3464309"/>
            <a:ext cx="9568636" cy="3339465"/>
          </a:xfrm>
          <a:prstGeom prst="rect">
            <a:avLst/>
          </a:prstGeom>
        </p:spPr>
        <p:txBody>
          <a:bodyPr lIns="0" tIns="0" rIns="0" bIns="0" rtlCol="0" anchor="t">
            <a:spAutoFit/>
          </a:bodyPr>
          <a:lstStyle/>
          <a:p>
            <a:pPr algn="ctr">
              <a:lnSpc>
                <a:spcPts val="3359"/>
              </a:lnSpc>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Suspendisse at arcu ac mauris tempor accumsan sed non nunc.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graphicFrame>
        <p:nvGraphicFramePr>
          <p:cNvPr id="8" name="Table 8"/>
          <p:cNvGraphicFramePr>
            <a:graphicFrameLocks noGrp="1"/>
          </p:cNvGraphicFramePr>
          <p:nvPr/>
        </p:nvGraphicFramePr>
        <p:xfrm>
          <a:off x="3768765" y="3249630"/>
          <a:ext cx="10750470" cy="5438775"/>
        </p:xfrm>
        <a:graphic>
          <a:graphicData uri="http://schemas.openxmlformats.org/drawingml/2006/table">
            <a:tbl>
              <a:tblPr/>
              <a:tblGrid>
                <a:gridCol w="3533578">
                  <a:extLst>
                    <a:ext uri="{9D8B030D-6E8A-4147-A177-3AD203B41FA5}">
                      <a16:colId xmlns:a16="http://schemas.microsoft.com/office/drawing/2014/main" val="20000"/>
                    </a:ext>
                  </a:extLst>
                </a:gridCol>
                <a:gridCol w="7216892">
                  <a:extLst>
                    <a:ext uri="{9D8B030D-6E8A-4147-A177-3AD203B41FA5}">
                      <a16:colId xmlns:a16="http://schemas.microsoft.com/office/drawing/2014/main" val="20001"/>
                    </a:ext>
                  </a:extLst>
                </a:gridCol>
              </a:tblGrid>
              <a:tr h="1026365">
                <a:tc>
                  <a:txBody>
                    <a:bodyPr/>
                    <a:lstStyle/>
                    <a:p>
                      <a:pPr algn="l">
                        <a:lnSpc>
                          <a:spcPts val="3499"/>
                        </a:lnSpc>
                        <a:defRPr/>
                      </a:pPr>
                      <a:r>
                        <a:rPr lang="en-US" sz="2499" b="1">
                          <a:solidFill>
                            <a:srgbClr val="234157"/>
                          </a:solidFill>
                          <a:latin typeface="Lato Bold"/>
                          <a:ea typeface="Lato Bold"/>
                          <a:cs typeface="Lato Bold"/>
                          <a:sym typeface="Lato Bold"/>
                        </a:rPr>
                        <a:t>Role</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73A8D4"/>
                    </a:solidFill>
                  </a:tcPr>
                </a:tc>
                <a:tc>
                  <a:txBody>
                    <a:bodyPr/>
                    <a:lstStyle/>
                    <a:p>
                      <a:pPr algn="l">
                        <a:lnSpc>
                          <a:spcPts val="3499"/>
                        </a:lnSpc>
                        <a:defRPr/>
                      </a:pPr>
                      <a:r>
                        <a:rPr lang="en-US" sz="2499" b="1">
                          <a:solidFill>
                            <a:srgbClr val="234157"/>
                          </a:solidFill>
                          <a:latin typeface="Lato Bold"/>
                          <a:ea typeface="Lato Bold"/>
                          <a:cs typeface="Lato Bold"/>
                          <a:sym typeface="Lato Bold"/>
                        </a:rPr>
                        <a:t>Description</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73A8D4"/>
                    </a:solidFill>
                  </a:tcPr>
                </a:tc>
                <a:extLst>
                  <a:ext uri="{0D108BD9-81ED-4DB2-BD59-A6C34878D82A}">
                    <a16:rowId xmlns:a16="http://schemas.microsoft.com/office/drawing/2014/main" val="10000"/>
                  </a:ext>
                </a:extLst>
              </a:tr>
              <a:tr h="882482">
                <a:tc>
                  <a:txBody>
                    <a:bodyPr/>
                    <a:lstStyle/>
                    <a:p>
                      <a:pPr algn="l">
                        <a:lnSpc>
                          <a:spcPts val="3079"/>
                        </a:lnSpc>
                        <a:defRPr/>
                      </a:pPr>
                      <a:r>
                        <a:rPr lang="en-US" sz="2199">
                          <a:solidFill>
                            <a:srgbClr val="234157"/>
                          </a:solidFill>
                          <a:latin typeface="Lato"/>
                          <a:ea typeface="Lato"/>
                          <a:cs typeface="Lato"/>
                          <a:sym typeface="Lato"/>
                        </a:rPr>
                        <a:t>Care Provider</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tc>
                  <a:txBody>
                    <a:bodyPr/>
                    <a:lstStyle/>
                    <a:p>
                      <a:pPr algn="l">
                        <a:lnSpc>
                          <a:spcPts val="3079"/>
                        </a:lnSpc>
                        <a:defRPr/>
                      </a:pPr>
                      <a:r>
                        <a:rPr lang="en-US" sz="2199">
                          <a:solidFill>
                            <a:srgbClr val="234157"/>
                          </a:solidFill>
                          <a:latin typeface="Lato"/>
                          <a:ea typeface="Lato"/>
                          <a:cs typeface="Lato"/>
                          <a:sym typeface="Lato"/>
                        </a:rPr>
                        <a:t>Assess and monitor patient conditions</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extLst>
                  <a:ext uri="{0D108BD9-81ED-4DB2-BD59-A6C34878D82A}">
                    <a16:rowId xmlns:a16="http://schemas.microsoft.com/office/drawing/2014/main" val="10001"/>
                  </a:ext>
                </a:extLst>
              </a:tr>
              <a:tr h="882482">
                <a:tc>
                  <a:txBody>
                    <a:bodyPr/>
                    <a:lstStyle/>
                    <a:p>
                      <a:pPr algn="l">
                        <a:lnSpc>
                          <a:spcPts val="3079"/>
                        </a:lnSpc>
                        <a:defRPr/>
                      </a:pPr>
                      <a:r>
                        <a:rPr lang="en-US" sz="2199">
                          <a:solidFill>
                            <a:srgbClr val="234157"/>
                          </a:solidFill>
                          <a:latin typeface="Lato"/>
                          <a:ea typeface="Lato"/>
                          <a:cs typeface="Lato"/>
                          <a:sym typeface="Lato"/>
                        </a:rPr>
                        <a:t>Educator</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tc>
                  <a:txBody>
                    <a:bodyPr/>
                    <a:lstStyle/>
                    <a:p>
                      <a:pPr algn="l">
                        <a:lnSpc>
                          <a:spcPts val="3079"/>
                        </a:lnSpc>
                        <a:defRPr/>
                      </a:pPr>
                      <a:r>
                        <a:rPr lang="en-US" sz="2199">
                          <a:solidFill>
                            <a:srgbClr val="234157"/>
                          </a:solidFill>
                          <a:latin typeface="Lato"/>
                          <a:ea typeface="Lato"/>
                          <a:cs typeface="Lato"/>
                          <a:sym typeface="Lato"/>
                        </a:rPr>
                        <a:t>Teach patients and families</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extLst>
                  <a:ext uri="{0D108BD9-81ED-4DB2-BD59-A6C34878D82A}">
                    <a16:rowId xmlns:a16="http://schemas.microsoft.com/office/drawing/2014/main" val="10002"/>
                  </a:ext>
                </a:extLst>
              </a:tr>
              <a:tr h="882482">
                <a:tc>
                  <a:txBody>
                    <a:bodyPr/>
                    <a:lstStyle/>
                    <a:p>
                      <a:pPr algn="l">
                        <a:lnSpc>
                          <a:spcPts val="3079"/>
                        </a:lnSpc>
                        <a:defRPr/>
                      </a:pPr>
                      <a:r>
                        <a:rPr lang="en-US" sz="2199">
                          <a:solidFill>
                            <a:srgbClr val="234157"/>
                          </a:solidFill>
                          <a:latin typeface="Lato"/>
                          <a:ea typeface="Lato"/>
                          <a:cs typeface="Lato"/>
                          <a:sym typeface="Lato"/>
                        </a:rPr>
                        <a:t>Communicator</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tc>
                  <a:txBody>
                    <a:bodyPr/>
                    <a:lstStyle/>
                    <a:p>
                      <a:pPr algn="l">
                        <a:lnSpc>
                          <a:spcPts val="3079"/>
                        </a:lnSpc>
                        <a:defRPr/>
                      </a:pPr>
                      <a:r>
                        <a:rPr lang="en-US" sz="2199">
                          <a:solidFill>
                            <a:srgbClr val="234157"/>
                          </a:solidFill>
                          <a:latin typeface="Lato"/>
                          <a:ea typeface="Lato"/>
                          <a:cs typeface="Lato"/>
                          <a:sym typeface="Lato"/>
                        </a:rPr>
                        <a:t>Collaborate with medical teams</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extLst>
                  <a:ext uri="{0D108BD9-81ED-4DB2-BD59-A6C34878D82A}">
                    <a16:rowId xmlns:a16="http://schemas.microsoft.com/office/drawing/2014/main" val="10003"/>
                  </a:ext>
                </a:extLst>
              </a:tr>
              <a:tr h="882482">
                <a:tc>
                  <a:txBody>
                    <a:bodyPr/>
                    <a:lstStyle/>
                    <a:p>
                      <a:pPr algn="l">
                        <a:lnSpc>
                          <a:spcPts val="3079"/>
                        </a:lnSpc>
                        <a:defRPr/>
                      </a:pPr>
                      <a:r>
                        <a:rPr lang="en-US" sz="2199">
                          <a:solidFill>
                            <a:srgbClr val="234157"/>
                          </a:solidFill>
                          <a:latin typeface="Lato"/>
                          <a:ea typeface="Lato"/>
                          <a:cs typeface="Lato"/>
                          <a:sym typeface="Lato"/>
                        </a:rPr>
                        <a:t>Advocate</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tc>
                  <a:txBody>
                    <a:bodyPr/>
                    <a:lstStyle/>
                    <a:p>
                      <a:pPr algn="l">
                        <a:lnSpc>
                          <a:spcPts val="3079"/>
                        </a:lnSpc>
                        <a:defRPr/>
                      </a:pPr>
                      <a:r>
                        <a:rPr lang="en-US" sz="2199">
                          <a:solidFill>
                            <a:srgbClr val="234157"/>
                          </a:solidFill>
                          <a:latin typeface="Lato"/>
                          <a:ea typeface="Lato"/>
                          <a:cs typeface="Lato"/>
                          <a:sym typeface="Lato"/>
                        </a:rPr>
                        <a:t>Ensure patient rights and safety</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extLst>
                  <a:ext uri="{0D108BD9-81ED-4DB2-BD59-A6C34878D82A}">
                    <a16:rowId xmlns:a16="http://schemas.microsoft.com/office/drawing/2014/main" val="10004"/>
                  </a:ext>
                </a:extLst>
              </a:tr>
              <a:tr h="882482">
                <a:tc>
                  <a:txBody>
                    <a:bodyPr/>
                    <a:lstStyle/>
                    <a:p>
                      <a:pPr algn="l">
                        <a:lnSpc>
                          <a:spcPts val="3079"/>
                        </a:lnSpc>
                        <a:defRPr/>
                      </a:pPr>
                      <a:r>
                        <a:rPr lang="en-US" sz="2199">
                          <a:solidFill>
                            <a:srgbClr val="234157"/>
                          </a:solidFill>
                          <a:latin typeface="Lato"/>
                          <a:ea typeface="Lato"/>
                          <a:cs typeface="Lato"/>
                          <a:sym typeface="Lato"/>
                        </a:rPr>
                        <a:t>Leader</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tc>
                  <a:txBody>
                    <a:bodyPr/>
                    <a:lstStyle/>
                    <a:p>
                      <a:pPr algn="l">
                        <a:lnSpc>
                          <a:spcPts val="3079"/>
                        </a:lnSpc>
                        <a:defRPr/>
                      </a:pPr>
                      <a:r>
                        <a:rPr lang="en-US" sz="2199">
                          <a:solidFill>
                            <a:srgbClr val="234157"/>
                          </a:solidFill>
                          <a:latin typeface="Lato"/>
                          <a:ea typeface="Lato"/>
                          <a:cs typeface="Lato"/>
                          <a:sym typeface="Lato"/>
                        </a:rPr>
                        <a:t>Manage care plans and decisions</a:t>
                      </a:r>
                      <a:endParaRPr lang="en-US" sz="1100"/>
                    </a:p>
                  </a:txBody>
                  <a:tcPr marL="190500" marR="190500" marT="190500" marB="190500" anchor="ctr">
                    <a:lnL w="38100" cap="flat" cmpd="sng" algn="ctr">
                      <a:solidFill>
                        <a:srgbClr val="234157"/>
                      </a:solidFill>
                      <a:prstDash val="solid"/>
                      <a:round/>
                      <a:headEnd type="none" w="med" len="med"/>
                      <a:tailEnd type="none" w="med" len="med"/>
                    </a:lnL>
                    <a:lnR w="38100" cap="flat" cmpd="sng" algn="ctr">
                      <a:solidFill>
                        <a:srgbClr val="234157"/>
                      </a:solidFill>
                      <a:prstDash val="solid"/>
                      <a:round/>
                      <a:headEnd type="none" w="med" len="med"/>
                      <a:tailEnd type="none" w="med" len="med"/>
                    </a:lnR>
                    <a:lnT w="38100" cap="flat" cmpd="sng" algn="ctr">
                      <a:solidFill>
                        <a:srgbClr val="234157"/>
                      </a:solidFill>
                      <a:prstDash val="solid"/>
                      <a:round/>
                      <a:headEnd type="none" w="med" len="med"/>
                      <a:tailEnd type="none" w="med" len="med"/>
                    </a:lnT>
                    <a:lnB w="38100" cap="flat" cmpd="sng" algn="ctr">
                      <a:solidFill>
                        <a:srgbClr val="234157"/>
                      </a:solidFill>
                      <a:prstDash val="solid"/>
                      <a:round/>
                      <a:headEnd type="none" w="med" len="med"/>
                      <a:tailEnd type="none" w="med" len="med"/>
                    </a:lnB>
                    <a:solidFill>
                      <a:srgbClr val="F1E7D8"/>
                    </a:solidFill>
                  </a:tcPr>
                </a:tc>
                <a:extLst>
                  <a:ext uri="{0D108BD9-81ED-4DB2-BD59-A6C34878D82A}">
                    <a16:rowId xmlns:a16="http://schemas.microsoft.com/office/drawing/2014/main" val="10005"/>
                  </a:ext>
                </a:extLst>
              </a:tr>
            </a:tbl>
          </a:graphicData>
        </a:graphic>
      </p:graphicFrame>
      <p:sp>
        <p:nvSpPr>
          <p:cNvPr id="9" name="TextBox 9"/>
          <p:cNvSpPr txBox="1"/>
          <p:nvPr/>
        </p:nvSpPr>
        <p:spPr>
          <a:xfrm>
            <a:off x="4553786" y="1095375"/>
            <a:ext cx="9180429" cy="1674495"/>
          </a:xfrm>
          <a:prstGeom prst="rect">
            <a:avLst/>
          </a:prstGeom>
        </p:spPr>
        <p:txBody>
          <a:bodyPr lIns="0" tIns="0" rIns="0" bIns="0" rtlCol="0" anchor="t">
            <a:spAutoFit/>
          </a:bodyPr>
          <a:lstStyle/>
          <a:p>
            <a:pPr algn="ctr">
              <a:lnSpc>
                <a:spcPts val="6540"/>
              </a:lnSpc>
            </a:pPr>
            <a:r>
              <a:rPr lang="en-US" sz="6000" b="1">
                <a:solidFill>
                  <a:srgbClr val="234157"/>
                </a:solidFill>
                <a:latin typeface="Playfair Display Bold"/>
                <a:ea typeface="Playfair Display Bold"/>
                <a:cs typeface="Playfair Display Bold"/>
                <a:sym typeface="Playfair Display Bold"/>
              </a:rPr>
              <a:t>Roles &amp; Responsibilities of Nurses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3169004" y="3993332"/>
            <a:ext cx="5865136" cy="1674495"/>
          </a:xfrm>
          <a:prstGeom prst="rect">
            <a:avLst/>
          </a:prstGeom>
        </p:spPr>
        <p:txBody>
          <a:bodyPr lIns="0" tIns="0" rIns="0" bIns="0" rtlCol="0" anchor="t">
            <a:spAutoFit/>
          </a:bodyPr>
          <a:lstStyle/>
          <a:p>
            <a:pPr algn="l">
              <a:lnSpc>
                <a:spcPts val="6540"/>
              </a:lnSpc>
            </a:pPr>
            <a:r>
              <a:rPr lang="en-US" sz="6000" b="1">
                <a:solidFill>
                  <a:srgbClr val="234157"/>
                </a:solidFill>
                <a:latin typeface="Playfair Display Bold"/>
                <a:ea typeface="Playfair Display Bold"/>
                <a:cs typeface="Playfair Display Bold"/>
                <a:sym typeface="Playfair Display Bold"/>
              </a:rPr>
              <a:t>Nursing Specializations</a:t>
            </a:r>
          </a:p>
        </p:txBody>
      </p:sp>
      <p:sp>
        <p:nvSpPr>
          <p:cNvPr id="9" name="TextBox 9"/>
          <p:cNvSpPr txBox="1"/>
          <p:nvPr/>
        </p:nvSpPr>
        <p:spPr>
          <a:xfrm>
            <a:off x="10064994" y="2968442"/>
            <a:ext cx="5424520" cy="3486150"/>
          </a:xfrm>
          <a:prstGeom prst="rect">
            <a:avLst/>
          </a:prstGeom>
        </p:spPr>
        <p:txBody>
          <a:bodyPr lIns="0" tIns="0" rIns="0" bIns="0" rtlCol="0" anchor="t">
            <a:spAutoFit/>
          </a:bodyPr>
          <a:lstStyle/>
          <a:p>
            <a:pPr marL="518160" lvl="1" indent="-259080" algn="l">
              <a:lnSpc>
                <a:spcPts val="4680"/>
              </a:lnSpc>
              <a:buFont typeface="Arial"/>
              <a:buChar char="•"/>
            </a:pPr>
            <a:r>
              <a:rPr lang="en-US" sz="2400">
                <a:solidFill>
                  <a:srgbClr val="234157"/>
                </a:solidFill>
                <a:latin typeface="Lato"/>
                <a:ea typeface="Lato"/>
                <a:cs typeface="Lato"/>
                <a:sym typeface="Lato"/>
              </a:rPr>
              <a:t>Pediatric Nursing</a:t>
            </a:r>
          </a:p>
          <a:p>
            <a:pPr marL="518160" lvl="1" indent="-259080" algn="l">
              <a:lnSpc>
                <a:spcPts val="4680"/>
              </a:lnSpc>
              <a:buFont typeface="Arial"/>
              <a:buChar char="•"/>
            </a:pPr>
            <a:r>
              <a:rPr lang="en-US" sz="2400">
                <a:solidFill>
                  <a:srgbClr val="234157"/>
                </a:solidFill>
                <a:latin typeface="Lato"/>
                <a:ea typeface="Lato"/>
                <a:cs typeface="Lato"/>
                <a:sym typeface="Lato"/>
              </a:rPr>
              <a:t>Emergency Nursing</a:t>
            </a:r>
          </a:p>
          <a:p>
            <a:pPr marL="518160" lvl="1" indent="-259080" algn="l">
              <a:lnSpc>
                <a:spcPts val="4680"/>
              </a:lnSpc>
              <a:buFont typeface="Arial"/>
              <a:buChar char="•"/>
            </a:pPr>
            <a:r>
              <a:rPr lang="en-US" sz="2400">
                <a:solidFill>
                  <a:srgbClr val="234157"/>
                </a:solidFill>
                <a:latin typeface="Lato"/>
                <a:ea typeface="Lato"/>
                <a:cs typeface="Lato"/>
                <a:sym typeface="Lato"/>
              </a:rPr>
              <a:t>Midwifery &amp; Maternal Health</a:t>
            </a:r>
          </a:p>
          <a:p>
            <a:pPr marL="518160" lvl="1" indent="-259080" algn="l">
              <a:lnSpc>
                <a:spcPts val="4680"/>
              </a:lnSpc>
              <a:buFont typeface="Arial"/>
              <a:buChar char="•"/>
            </a:pPr>
            <a:r>
              <a:rPr lang="en-US" sz="2400">
                <a:solidFill>
                  <a:srgbClr val="234157"/>
                </a:solidFill>
                <a:latin typeface="Lato"/>
                <a:ea typeface="Lato"/>
                <a:cs typeface="Lato"/>
                <a:sym typeface="Lato"/>
              </a:rPr>
              <a:t>ICU / Critical Care</a:t>
            </a:r>
          </a:p>
          <a:p>
            <a:pPr marL="518160" lvl="1" indent="-259080" algn="l">
              <a:lnSpc>
                <a:spcPts val="4680"/>
              </a:lnSpc>
              <a:buFont typeface="Arial"/>
              <a:buChar char="•"/>
            </a:pPr>
            <a:r>
              <a:rPr lang="en-US" sz="2400">
                <a:solidFill>
                  <a:srgbClr val="234157"/>
                </a:solidFill>
                <a:latin typeface="Lato"/>
                <a:ea typeface="Lato"/>
                <a:cs typeface="Lato"/>
                <a:sym typeface="Lato"/>
              </a:rPr>
              <a:t>Community Health Nursing</a:t>
            </a:r>
          </a:p>
          <a:p>
            <a:pPr marL="518160" lvl="1" indent="-259080" algn="l">
              <a:lnSpc>
                <a:spcPts val="4680"/>
              </a:lnSpc>
              <a:buFont typeface="Arial"/>
              <a:buChar char="•"/>
            </a:pPr>
            <a:r>
              <a:rPr lang="en-US" sz="2400">
                <a:solidFill>
                  <a:srgbClr val="234157"/>
                </a:solidFill>
                <a:latin typeface="Lato"/>
                <a:ea typeface="Lato"/>
                <a:cs typeface="Lato"/>
                <a:sym typeface="Lato"/>
              </a:rPr>
              <a:t>Mental Health Nursing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5861089" y="1128028"/>
            <a:ext cx="6565822" cy="845820"/>
          </a:xfrm>
          <a:prstGeom prst="rect">
            <a:avLst/>
          </a:prstGeom>
        </p:spPr>
        <p:txBody>
          <a:bodyPr lIns="0" tIns="0" rIns="0" bIns="0" rtlCol="0" anchor="t">
            <a:spAutoFit/>
          </a:bodyPr>
          <a:lstStyle/>
          <a:p>
            <a:pPr algn="ctr">
              <a:lnSpc>
                <a:spcPts val="6540"/>
              </a:lnSpc>
            </a:pPr>
            <a:r>
              <a:rPr lang="en-US" sz="6000" b="1">
                <a:solidFill>
                  <a:srgbClr val="234157"/>
                </a:solidFill>
                <a:latin typeface="Playfair Display Bold"/>
                <a:ea typeface="Playfair Display Bold"/>
                <a:cs typeface="Playfair Display Bold"/>
                <a:sym typeface="Playfair Display Bold"/>
              </a:rPr>
              <a:t>Nursing Process</a:t>
            </a:r>
          </a:p>
        </p:txBody>
      </p:sp>
      <p:grpSp>
        <p:nvGrpSpPr>
          <p:cNvPr id="9" name="Group 9"/>
          <p:cNvGrpSpPr/>
          <p:nvPr/>
        </p:nvGrpSpPr>
        <p:grpSpPr>
          <a:xfrm>
            <a:off x="5725583" y="2575695"/>
            <a:ext cx="6836833" cy="1052544"/>
            <a:chOff x="0" y="0"/>
            <a:chExt cx="1800647" cy="277213"/>
          </a:xfrm>
        </p:grpSpPr>
        <p:sp>
          <p:nvSpPr>
            <p:cNvPr id="10" name="Freeform 10"/>
            <p:cNvSpPr/>
            <p:nvPr/>
          </p:nvSpPr>
          <p:spPr>
            <a:xfrm>
              <a:off x="0" y="0"/>
              <a:ext cx="1800647" cy="277213"/>
            </a:xfrm>
            <a:custGeom>
              <a:avLst/>
              <a:gdLst/>
              <a:ahLst/>
              <a:cxnLst/>
              <a:rect l="l" t="t" r="r" b="b"/>
              <a:pathLst>
                <a:path w="1800647" h="277213">
                  <a:moveTo>
                    <a:pt x="57752" y="0"/>
                  </a:moveTo>
                  <a:lnTo>
                    <a:pt x="1742896" y="0"/>
                  </a:lnTo>
                  <a:cubicBezTo>
                    <a:pt x="1758213" y="0"/>
                    <a:pt x="1772902" y="6085"/>
                    <a:pt x="1783732" y="16915"/>
                  </a:cubicBezTo>
                  <a:cubicBezTo>
                    <a:pt x="1794563" y="27746"/>
                    <a:pt x="1800647" y="42435"/>
                    <a:pt x="1800647" y="57752"/>
                  </a:cubicBezTo>
                  <a:lnTo>
                    <a:pt x="1800647" y="219462"/>
                  </a:lnTo>
                  <a:cubicBezTo>
                    <a:pt x="1800647" y="234778"/>
                    <a:pt x="1794563" y="249468"/>
                    <a:pt x="1783732" y="260298"/>
                  </a:cubicBezTo>
                  <a:cubicBezTo>
                    <a:pt x="1772902" y="271129"/>
                    <a:pt x="1758213" y="277213"/>
                    <a:pt x="1742896" y="277213"/>
                  </a:cubicBezTo>
                  <a:lnTo>
                    <a:pt x="57752" y="277213"/>
                  </a:lnTo>
                  <a:cubicBezTo>
                    <a:pt x="42435" y="277213"/>
                    <a:pt x="27746" y="271129"/>
                    <a:pt x="16915" y="260298"/>
                  </a:cubicBezTo>
                  <a:cubicBezTo>
                    <a:pt x="6085" y="249468"/>
                    <a:pt x="0" y="234778"/>
                    <a:pt x="0" y="219462"/>
                  </a:cubicBezTo>
                  <a:lnTo>
                    <a:pt x="0" y="57752"/>
                  </a:lnTo>
                  <a:cubicBezTo>
                    <a:pt x="0" y="42435"/>
                    <a:pt x="6085" y="27746"/>
                    <a:pt x="16915" y="16915"/>
                  </a:cubicBezTo>
                  <a:cubicBezTo>
                    <a:pt x="27746" y="6085"/>
                    <a:pt x="42435" y="0"/>
                    <a:pt x="57752" y="0"/>
                  </a:cubicBezTo>
                  <a:close/>
                </a:path>
              </a:pathLst>
            </a:custGeom>
            <a:solidFill>
              <a:srgbClr val="F1E7D8"/>
            </a:solidFill>
          </p:spPr>
        </p:sp>
        <p:sp>
          <p:nvSpPr>
            <p:cNvPr id="11" name="TextBox 11"/>
            <p:cNvSpPr txBox="1"/>
            <p:nvPr/>
          </p:nvSpPr>
          <p:spPr>
            <a:xfrm>
              <a:off x="0" y="-38100"/>
              <a:ext cx="180064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5725583" y="3717124"/>
            <a:ext cx="6836833" cy="1052544"/>
            <a:chOff x="0" y="0"/>
            <a:chExt cx="1800647" cy="277213"/>
          </a:xfrm>
        </p:grpSpPr>
        <p:sp>
          <p:nvSpPr>
            <p:cNvPr id="13" name="Freeform 13"/>
            <p:cNvSpPr/>
            <p:nvPr/>
          </p:nvSpPr>
          <p:spPr>
            <a:xfrm>
              <a:off x="0" y="0"/>
              <a:ext cx="1800647" cy="277213"/>
            </a:xfrm>
            <a:custGeom>
              <a:avLst/>
              <a:gdLst/>
              <a:ahLst/>
              <a:cxnLst/>
              <a:rect l="l" t="t" r="r" b="b"/>
              <a:pathLst>
                <a:path w="1800647" h="277213">
                  <a:moveTo>
                    <a:pt x="57752" y="0"/>
                  </a:moveTo>
                  <a:lnTo>
                    <a:pt x="1742896" y="0"/>
                  </a:lnTo>
                  <a:cubicBezTo>
                    <a:pt x="1758213" y="0"/>
                    <a:pt x="1772902" y="6085"/>
                    <a:pt x="1783732" y="16915"/>
                  </a:cubicBezTo>
                  <a:cubicBezTo>
                    <a:pt x="1794563" y="27746"/>
                    <a:pt x="1800647" y="42435"/>
                    <a:pt x="1800647" y="57752"/>
                  </a:cubicBezTo>
                  <a:lnTo>
                    <a:pt x="1800647" y="219462"/>
                  </a:lnTo>
                  <a:cubicBezTo>
                    <a:pt x="1800647" y="234778"/>
                    <a:pt x="1794563" y="249468"/>
                    <a:pt x="1783732" y="260298"/>
                  </a:cubicBezTo>
                  <a:cubicBezTo>
                    <a:pt x="1772902" y="271129"/>
                    <a:pt x="1758213" y="277213"/>
                    <a:pt x="1742896" y="277213"/>
                  </a:cubicBezTo>
                  <a:lnTo>
                    <a:pt x="57752" y="277213"/>
                  </a:lnTo>
                  <a:cubicBezTo>
                    <a:pt x="42435" y="277213"/>
                    <a:pt x="27746" y="271129"/>
                    <a:pt x="16915" y="260298"/>
                  </a:cubicBezTo>
                  <a:cubicBezTo>
                    <a:pt x="6085" y="249468"/>
                    <a:pt x="0" y="234778"/>
                    <a:pt x="0" y="219462"/>
                  </a:cubicBezTo>
                  <a:lnTo>
                    <a:pt x="0" y="57752"/>
                  </a:lnTo>
                  <a:cubicBezTo>
                    <a:pt x="0" y="42435"/>
                    <a:pt x="6085" y="27746"/>
                    <a:pt x="16915" y="16915"/>
                  </a:cubicBezTo>
                  <a:cubicBezTo>
                    <a:pt x="27746" y="6085"/>
                    <a:pt x="42435" y="0"/>
                    <a:pt x="57752" y="0"/>
                  </a:cubicBezTo>
                  <a:close/>
                </a:path>
              </a:pathLst>
            </a:custGeom>
            <a:solidFill>
              <a:srgbClr val="F1E7D8"/>
            </a:solidFill>
          </p:spPr>
        </p:sp>
        <p:sp>
          <p:nvSpPr>
            <p:cNvPr id="14" name="TextBox 14"/>
            <p:cNvSpPr txBox="1"/>
            <p:nvPr/>
          </p:nvSpPr>
          <p:spPr>
            <a:xfrm>
              <a:off x="0" y="-38100"/>
              <a:ext cx="180064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5725583" y="4858553"/>
            <a:ext cx="6836833" cy="1052544"/>
            <a:chOff x="0" y="0"/>
            <a:chExt cx="1800647" cy="277213"/>
          </a:xfrm>
        </p:grpSpPr>
        <p:sp>
          <p:nvSpPr>
            <p:cNvPr id="16" name="Freeform 16"/>
            <p:cNvSpPr/>
            <p:nvPr/>
          </p:nvSpPr>
          <p:spPr>
            <a:xfrm>
              <a:off x="0" y="0"/>
              <a:ext cx="1800647" cy="277213"/>
            </a:xfrm>
            <a:custGeom>
              <a:avLst/>
              <a:gdLst/>
              <a:ahLst/>
              <a:cxnLst/>
              <a:rect l="l" t="t" r="r" b="b"/>
              <a:pathLst>
                <a:path w="1800647" h="277213">
                  <a:moveTo>
                    <a:pt x="57752" y="0"/>
                  </a:moveTo>
                  <a:lnTo>
                    <a:pt x="1742896" y="0"/>
                  </a:lnTo>
                  <a:cubicBezTo>
                    <a:pt x="1758213" y="0"/>
                    <a:pt x="1772902" y="6085"/>
                    <a:pt x="1783732" y="16915"/>
                  </a:cubicBezTo>
                  <a:cubicBezTo>
                    <a:pt x="1794563" y="27746"/>
                    <a:pt x="1800647" y="42435"/>
                    <a:pt x="1800647" y="57752"/>
                  </a:cubicBezTo>
                  <a:lnTo>
                    <a:pt x="1800647" y="219462"/>
                  </a:lnTo>
                  <a:cubicBezTo>
                    <a:pt x="1800647" y="234778"/>
                    <a:pt x="1794563" y="249468"/>
                    <a:pt x="1783732" y="260298"/>
                  </a:cubicBezTo>
                  <a:cubicBezTo>
                    <a:pt x="1772902" y="271129"/>
                    <a:pt x="1758213" y="277213"/>
                    <a:pt x="1742896" y="277213"/>
                  </a:cubicBezTo>
                  <a:lnTo>
                    <a:pt x="57752" y="277213"/>
                  </a:lnTo>
                  <a:cubicBezTo>
                    <a:pt x="42435" y="277213"/>
                    <a:pt x="27746" y="271129"/>
                    <a:pt x="16915" y="260298"/>
                  </a:cubicBezTo>
                  <a:cubicBezTo>
                    <a:pt x="6085" y="249468"/>
                    <a:pt x="0" y="234778"/>
                    <a:pt x="0" y="219462"/>
                  </a:cubicBezTo>
                  <a:lnTo>
                    <a:pt x="0" y="57752"/>
                  </a:lnTo>
                  <a:cubicBezTo>
                    <a:pt x="0" y="42435"/>
                    <a:pt x="6085" y="27746"/>
                    <a:pt x="16915" y="16915"/>
                  </a:cubicBezTo>
                  <a:cubicBezTo>
                    <a:pt x="27746" y="6085"/>
                    <a:pt x="42435" y="0"/>
                    <a:pt x="57752" y="0"/>
                  </a:cubicBezTo>
                  <a:close/>
                </a:path>
              </a:pathLst>
            </a:custGeom>
            <a:solidFill>
              <a:srgbClr val="F1E7D8"/>
            </a:solidFill>
          </p:spPr>
        </p:sp>
        <p:sp>
          <p:nvSpPr>
            <p:cNvPr id="17" name="TextBox 17"/>
            <p:cNvSpPr txBox="1"/>
            <p:nvPr/>
          </p:nvSpPr>
          <p:spPr>
            <a:xfrm>
              <a:off x="0" y="-38100"/>
              <a:ext cx="180064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5725583" y="5999982"/>
            <a:ext cx="6836833" cy="1052544"/>
            <a:chOff x="0" y="0"/>
            <a:chExt cx="1800647" cy="277213"/>
          </a:xfrm>
        </p:grpSpPr>
        <p:sp>
          <p:nvSpPr>
            <p:cNvPr id="19" name="Freeform 19"/>
            <p:cNvSpPr/>
            <p:nvPr/>
          </p:nvSpPr>
          <p:spPr>
            <a:xfrm>
              <a:off x="0" y="0"/>
              <a:ext cx="1800647" cy="277213"/>
            </a:xfrm>
            <a:custGeom>
              <a:avLst/>
              <a:gdLst/>
              <a:ahLst/>
              <a:cxnLst/>
              <a:rect l="l" t="t" r="r" b="b"/>
              <a:pathLst>
                <a:path w="1800647" h="277213">
                  <a:moveTo>
                    <a:pt x="57752" y="0"/>
                  </a:moveTo>
                  <a:lnTo>
                    <a:pt x="1742896" y="0"/>
                  </a:lnTo>
                  <a:cubicBezTo>
                    <a:pt x="1758213" y="0"/>
                    <a:pt x="1772902" y="6085"/>
                    <a:pt x="1783732" y="16915"/>
                  </a:cubicBezTo>
                  <a:cubicBezTo>
                    <a:pt x="1794563" y="27746"/>
                    <a:pt x="1800647" y="42435"/>
                    <a:pt x="1800647" y="57752"/>
                  </a:cubicBezTo>
                  <a:lnTo>
                    <a:pt x="1800647" y="219462"/>
                  </a:lnTo>
                  <a:cubicBezTo>
                    <a:pt x="1800647" y="234778"/>
                    <a:pt x="1794563" y="249468"/>
                    <a:pt x="1783732" y="260298"/>
                  </a:cubicBezTo>
                  <a:cubicBezTo>
                    <a:pt x="1772902" y="271129"/>
                    <a:pt x="1758213" y="277213"/>
                    <a:pt x="1742896" y="277213"/>
                  </a:cubicBezTo>
                  <a:lnTo>
                    <a:pt x="57752" y="277213"/>
                  </a:lnTo>
                  <a:cubicBezTo>
                    <a:pt x="42435" y="277213"/>
                    <a:pt x="27746" y="271129"/>
                    <a:pt x="16915" y="260298"/>
                  </a:cubicBezTo>
                  <a:cubicBezTo>
                    <a:pt x="6085" y="249468"/>
                    <a:pt x="0" y="234778"/>
                    <a:pt x="0" y="219462"/>
                  </a:cubicBezTo>
                  <a:lnTo>
                    <a:pt x="0" y="57752"/>
                  </a:lnTo>
                  <a:cubicBezTo>
                    <a:pt x="0" y="42435"/>
                    <a:pt x="6085" y="27746"/>
                    <a:pt x="16915" y="16915"/>
                  </a:cubicBezTo>
                  <a:cubicBezTo>
                    <a:pt x="27746" y="6085"/>
                    <a:pt x="42435" y="0"/>
                    <a:pt x="57752" y="0"/>
                  </a:cubicBezTo>
                  <a:close/>
                </a:path>
              </a:pathLst>
            </a:custGeom>
            <a:solidFill>
              <a:srgbClr val="F1E7D8"/>
            </a:solidFill>
          </p:spPr>
        </p:sp>
        <p:sp>
          <p:nvSpPr>
            <p:cNvPr id="20" name="TextBox 20"/>
            <p:cNvSpPr txBox="1"/>
            <p:nvPr/>
          </p:nvSpPr>
          <p:spPr>
            <a:xfrm>
              <a:off x="0" y="-38100"/>
              <a:ext cx="180064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5725583" y="7141411"/>
            <a:ext cx="6836833" cy="1052544"/>
            <a:chOff x="0" y="0"/>
            <a:chExt cx="1800647" cy="277213"/>
          </a:xfrm>
        </p:grpSpPr>
        <p:sp>
          <p:nvSpPr>
            <p:cNvPr id="22" name="Freeform 22"/>
            <p:cNvSpPr/>
            <p:nvPr/>
          </p:nvSpPr>
          <p:spPr>
            <a:xfrm>
              <a:off x="0" y="0"/>
              <a:ext cx="1800647" cy="277213"/>
            </a:xfrm>
            <a:custGeom>
              <a:avLst/>
              <a:gdLst/>
              <a:ahLst/>
              <a:cxnLst/>
              <a:rect l="l" t="t" r="r" b="b"/>
              <a:pathLst>
                <a:path w="1800647" h="277213">
                  <a:moveTo>
                    <a:pt x="57752" y="0"/>
                  </a:moveTo>
                  <a:lnTo>
                    <a:pt x="1742896" y="0"/>
                  </a:lnTo>
                  <a:cubicBezTo>
                    <a:pt x="1758213" y="0"/>
                    <a:pt x="1772902" y="6085"/>
                    <a:pt x="1783732" y="16915"/>
                  </a:cubicBezTo>
                  <a:cubicBezTo>
                    <a:pt x="1794563" y="27746"/>
                    <a:pt x="1800647" y="42435"/>
                    <a:pt x="1800647" y="57752"/>
                  </a:cubicBezTo>
                  <a:lnTo>
                    <a:pt x="1800647" y="219462"/>
                  </a:lnTo>
                  <a:cubicBezTo>
                    <a:pt x="1800647" y="234778"/>
                    <a:pt x="1794563" y="249468"/>
                    <a:pt x="1783732" y="260298"/>
                  </a:cubicBezTo>
                  <a:cubicBezTo>
                    <a:pt x="1772902" y="271129"/>
                    <a:pt x="1758213" y="277213"/>
                    <a:pt x="1742896" y="277213"/>
                  </a:cubicBezTo>
                  <a:lnTo>
                    <a:pt x="57752" y="277213"/>
                  </a:lnTo>
                  <a:cubicBezTo>
                    <a:pt x="42435" y="277213"/>
                    <a:pt x="27746" y="271129"/>
                    <a:pt x="16915" y="260298"/>
                  </a:cubicBezTo>
                  <a:cubicBezTo>
                    <a:pt x="6085" y="249468"/>
                    <a:pt x="0" y="234778"/>
                    <a:pt x="0" y="219462"/>
                  </a:cubicBezTo>
                  <a:lnTo>
                    <a:pt x="0" y="57752"/>
                  </a:lnTo>
                  <a:cubicBezTo>
                    <a:pt x="0" y="42435"/>
                    <a:pt x="6085" y="27746"/>
                    <a:pt x="16915" y="16915"/>
                  </a:cubicBezTo>
                  <a:cubicBezTo>
                    <a:pt x="27746" y="6085"/>
                    <a:pt x="42435" y="0"/>
                    <a:pt x="57752" y="0"/>
                  </a:cubicBezTo>
                  <a:close/>
                </a:path>
              </a:pathLst>
            </a:custGeom>
            <a:solidFill>
              <a:srgbClr val="F1E7D8"/>
            </a:solidFill>
          </p:spPr>
        </p:sp>
        <p:sp>
          <p:nvSpPr>
            <p:cNvPr id="23" name="TextBox 23"/>
            <p:cNvSpPr txBox="1"/>
            <p:nvPr/>
          </p:nvSpPr>
          <p:spPr>
            <a:xfrm>
              <a:off x="0" y="-38100"/>
              <a:ext cx="1800647" cy="315313"/>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6114367" y="2654292"/>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Assessment</a:t>
            </a:r>
          </a:p>
        </p:txBody>
      </p:sp>
      <p:sp>
        <p:nvSpPr>
          <p:cNvPr id="25" name="TextBox 25"/>
          <p:cNvSpPr txBox="1"/>
          <p:nvPr/>
        </p:nvSpPr>
        <p:spPr>
          <a:xfrm>
            <a:off x="6114367" y="3795721"/>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Diagnosis</a:t>
            </a:r>
          </a:p>
        </p:txBody>
      </p:sp>
      <p:sp>
        <p:nvSpPr>
          <p:cNvPr id="26" name="TextBox 26"/>
          <p:cNvSpPr txBox="1"/>
          <p:nvPr/>
        </p:nvSpPr>
        <p:spPr>
          <a:xfrm>
            <a:off x="6114367" y="4937150"/>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Planning</a:t>
            </a:r>
          </a:p>
        </p:txBody>
      </p:sp>
      <p:sp>
        <p:nvSpPr>
          <p:cNvPr id="27" name="TextBox 27"/>
          <p:cNvSpPr txBox="1"/>
          <p:nvPr/>
        </p:nvSpPr>
        <p:spPr>
          <a:xfrm>
            <a:off x="6114367" y="6078579"/>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Implementation</a:t>
            </a:r>
          </a:p>
        </p:txBody>
      </p:sp>
      <p:sp>
        <p:nvSpPr>
          <p:cNvPr id="28" name="TextBox 28"/>
          <p:cNvSpPr txBox="1"/>
          <p:nvPr/>
        </p:nvSpPr>
        <p:spPr>
          <a:xfrm>
            <a:off x="6114367" y="7220008"/>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Evaluation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10798130" y="4110990"/>
            <a:ext cx="4891384" cy="1674495"/>
          </a:xfrm>
          <a:prstGeom prst="rect">
            <a:avLst/>
          </a:prstGeom>
        </p:spPr>
        <p:txBody>
          <a:bodyPr lIns="0" tIns="0" rIns="0" bIns="0" rtlCol="0" anchor="t">
            <a:spAutoFit/>
          </a:bodyPr>
          <a:lstStyle/>
          <a:p>
            <a:pPr algn="l">
              <a:lnSpc>
                <a:spcPts val="6540"/>
              </a:lnSpc>
            </a:pPr>
            <a:r>
              <a:rPr lang="en-US" sz="6000" b="1">
                <a:solidFill>
                  <a:srgbClr val="234157"/>
                </a:solidFill>
                <a:latin typeface="Playfair Display Bold"/>
                <a:ea typeface="Playfair Display Bold"/>
                <a:cs typeface="Playfair Display Bold"/>
                <a:sym typeface="Playfair Display Bold"/>
              </a:rPr>
              <a:t>Core Values in Nursing</a:t>
            </a:r>
          </a:p>
        </p:txBody>
      </p:sp>
      <p:grpSp>
        <p:nvGrpSpPr>
          <p:cNvPr id="9" name="Group 9"/>
          <p:cNvGrpSpPr/>
          <p:nvPr/>
        </p:nvGrpSpPr>
        <p:grpSpPr>
          <a:xfrm>
            <a:off x="2926133" y="2334370"/>
            <a:ext cx="5685657" cy="1052544"/>
            <a:chOff x="0" y="0"/>
            <a:chExt cx="1497457" cy="277213"/>
          </a:xfrm>
        </p:grpSpPr>
        <p:sp>
          <p:nvSpPr>
            <p:cNvPr id="10" name="Freeform 10"/>
            <p:cNvSpPr/>
            <p:nvPr/>
          </p:nvSpPr>
          <p:spPr>
            <a:xfrm>
              <a:off x="0" y="0"/>
              <a:ext cx="1497457" cy="277213"/>
            </a:xfrm>
            <a:custGeom>
              <a:avLst/>
              <a:gdLst/>
              <a:ahLst/>
              <a:cxnLst/>
              <a:rect l="l" t="t" r="r" b="b"/>
              <a:pathLst>
                <a:path w="1497457" h="277213">
                  <a:moveTo>
                    <a:pt x="69445" y="0"/>
                  </a:moveTo>
                  <a:lnTo>
                    <a:pt x="1428013" y="0"/>
                  </a:lnTo>
                  <a:cubicBezTo>
                    <a:pt x="1466366" y="0"/>
                    <a:pt x="1497457" y="31091"/>
                    <a:pt x="1497457" y="69445"/>
                  </a:cubicBezTo>
                  <a:lnTo>
                    <a:pt x="1497457" y="207769"/>
                  </a:lnTo>
                  <a:cubicBezTo>
                    <a:pt x="1497457" y="226187"/>
                    <a:pt x="1490141" y="243850"/>
                    <a:pt x="1477117" y="256873"/>
                  </a:cubicBezTo>
                  <a:cubicBezTo>
                    <a:pt x="1464094" y="269897"/>
                    <a:pt x="1446430" y="277213"/>
                    <a:pt x="1428013" y="277213"/>
                  </a:cubicBezTo>
                  <a:lnTo>
                    <a:pt x="69445" y="277213"/>
                  </a:lnTo>
                  <a:cubicBezTo>
                    <a:pt x="51027" y="277213"/>
                    <a:pt x="33363" y="269897"/>
                    <a:pt x="20340" y="256873"/>
                  </a:cubicBezTo>
                  <a:cubicBezTo>
                    <a:pt x="7316" y="243850"/>
                    <a:pt x="0" y="226187"/>
                    <a:pt x="0" y="207769"/>
                  </a:cubicBezTo>
                  <a:lnTo>
                    <a:pt x="0" y="69445"/>
                  </a:lnTo>
                  <a:cubicBezTo>
                    <a:pt x="0" y="51027"/>
                    <a:pt x="7316" y="33363"/>
                    <a:pt x="20340" y="20340"/>
                  </a:cubicBezTo>
                  <a:cubicBezTo>
                    <a:pt x="33363" y="7316"/>
                    <a:pt x="51027" y="0"/>
                    <a:pt x="69445" y="0"/>
                  </a:cubicBezTo>
                  <a:close/>
                </a:path>
              </a:pathLst>
            </a:custGeom>
            <a:solidFill>
              <a:srgbClr val="F1E7D8"/>
            </a:solidFill>
          </p:spPr>
        </p:sp>
        <p:sp>
          <p:nvSpPr>
            <p:cNvPr id="11" name="TextBox 11"/>
            <p:cNvSpPr txBox="1"/>
            <p:nvPr/>
          </p:nvSpPr>
          <p:spPr>
            <a:xfrm>
              <a:off x="0" y="-38100"/>
              <a:ext cx="149745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2926133" y="3475799"/>
            <a:ext cx="5685657" cy="1052544"/>
            <a:chOff x="0" y="0"/>
            <a:chExt cx="1497457" cy="277213"/>
          </a:xfrm>
        </p:grpSpPr>
        <p:sp>
          <p:nvSpPr>
            <p:cNvPr id="13" name="Freeform 13"/>
            <p:cNvSpPr/>
            <p:nvPr/>
          </p:nvSpPr>
          <p:spPr>
            <a:xfrm>
              <a:off x="0" y="0"/>
              <a:ext cx="1497457" cy="277213"/>
            </a:xfrm>
            <a:custGeom>
              <a:avLst/>
              <a:gdLst/>
              <a:ahLst/>
              <a:cxnLst/>
              <a:rect l="l" t="t" r="r" b="b"/>
              <a:pathLst>
                <a:path w="1497457" h="277213">
                  <a:moveTo>
                    <a:pt x="69445" y="0"/>
                  </a:moveTo>
                  <a:lnTo>
                    <a:pt x="1428013" y="0"/>
                  </a:lnTo>
                  <a:cubicBezTo>
                    <a:pt x="1466366" y="0"/>
                    <a:pt x="1497457" y="31091"/>
                    <a:pt x="1497457" y="69445"/>
                  </a:cubicBezTo>
                  <a:lnTo>
                    <a:pt x="1497457" y="207769"/>
                  </a:lnTo>
                  <a:cubicBezTo>
                    <a:pt x="1497457" y="226187"/>
                    <a:pt x="1490141" y="243850"/>
                    <a:pt x="1477117" y="256873"/>
                  </a:cubicBezTo>
                  <a:cubicBezTo>
                    <a:pt x="1464094" y="269897"/>
                    <a:pt x="1446430" y="277213"/>
                    <a:pt x="1428013" y="277213"/>
                  </a:cubicBezTo>
                  <a:lnTo>
                    <a:pt x="69445" y="277213"/>
                  </a:lnTo>
                  <a:cubicBezTo>
                    <a:pt x="51027" y="277213"/>
                    <a:pt x="33363" y="269897"/>
                    <a:pt x="20340" y="256873"/>
                  </a:cubicBezTo>
                  <a:cubicBezTo>
                    <a:pt x="7316" y="243850"/>
                    <a:pt x="0" y="226187"/>
                    <a:pt x="0" y="207769"/>
                  </a:cubicBezTo>
                  <a:lnTo>
                    <a:pt x="0" y="69445"/>
                  </a:lnTo>
                  <a:cubicBezTo>
                    <a:pt x="0" y="51027"/>
                    <a:pt x="7316" y="33363"/>
                    <a:pt x="20340" y="20340"/>
                  </a:cubicBezTo>
                  <a:cubicBezTo>
                    <a:pt x="33363" y="7316"/>
                    <a:pt x="51027" y="0"/>
                    <a:pt x="69445" y="0"/>
                  </a:cubicBezTo>
                  <a:close/>
                </a:path>
              </a:pathLst>
            </a:custGeom>
            <a:solidFill>
              <a:srgbClr val="F1E7D8"/>
            </a:solidFill>
          </p:spPr>
        </p:sp>
        <p:sp>
          <p:nvSpPr>
            <p:cNvPr id="14" name="TextBox 14"/>
            <p:cNvSpPr txBox="1"/>
            <p:nvPr/>
          </p:nvSpPr>
          <p:spPr>
            <a:xfrm>
              <a:off x="0" y="-38100"/>
              <a:ext cx="149745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2926133" y="4617228"/>
            <a:ext cx="5685657" cy="1052544"/>
            <a:chOff x="0" y="0"/>
            <a:chExt cx="1497457" cy="277213"/>
          </a:xfrm>
        </p:grpSpPr>
        <p:sp>
          <p:nvSpPr>
            <p:cNvPr id="16" name="Freeform 16"/>
            <p:cNvSpPr/>
            <p:nvPr/>
          </p:nvSpPr>
          <p:spPr>
            <a:xfrm>
              <a:off x="0" y="0"/>
              <a:ext cx="1497457" cy="277213"/>
            </a:xfrm>
            <a:custGeom>
              <a:avLst/>
              <a:gdLst/>
              <a:ahLst/>
              <a:cxnLst/>
              <a:rect l="l" t="t" r="r" b="b"/>
              <a:pathLst>
                <a:path w="1497457" h="277213">
                  <a:moveTo>
                    <a:pt x="69445" y="0"/>
                  </a:moveTo>
                  <a:lnTo>
                    <a:pt x="1428013" y="0"/>
                  </a:lnTo>
                  <a:cubicBezTo>
                    <a:pt x="1466366" y="0"/>
                    <a:pt x="1497457" y="31091"/>
                    <a:pt x="1497457" y="69445"/>
                  </a:cubicBezTo>
                  <a:lnTo>
                    <a:pt x="1497457" y="207769"/>
                  </a:lnTo>
                  <a:cubicBezTo>
                    <a:pt x="1497457" y="226187"/>
                    <a:pt x="1490141" y="243850"/>
                    <a:pt x="1477117" y="256873"/>
                  </a:cubicBezTo>
                  <a:cubicBezTo>
                    <a:pt x="1464094" y="269897"/>
                    <a:pt x="1446430" y="277213"/>
                    <a:pt x="1428013" y="277213"/>
                  </a:cubicBezTo>
                  <a:lnTo>
                    <a:pt x="69445" y="277213"/>
                  </a:lnTo>
                  <a:cubicBezTo>
                    <a:pt x="51027" y="277213"/>
                    <a:pt x="33363" y="269897"/>
                    <a:pt x="20340" y="256873"/>
                  </a:cubicBezTo>
                  <a:cubicBezTo>
                    <a:pt x="7316" y="243850"/>
                    <a:pt x="0" y="226187"/>
                    <a:pt x="0" y="207769"/>
                  </a:cubicBezTo>
                  <a:lnTo>
                    <a:pt x="0" y="69445"/>
                  </a:lnTo>
                  <a:cubicBezTo>
                    <a:pt x="0" y="51027"/>
                    <a:pt x="7316" y="33363"/>
                    <a:pt x="20340" y="20340"/>
                  </a:cubicBezTo>
                  <a:cubicBezTo>
                    <a:pt x="33363" y="7316"/>
                    <a:pt x="51027" y="0"/>
                    <a:pt x="69445" y="0"/>
                  </a:cubicBezTo>
                  <a:close/>
                </a:path>
              </a:pathLst>
            </a:custGeom>
            <a:solidFill>
              <a:srgbClr val="F1E7D8"/>
            </a:solidFill>
          </p:spPr>
        </p:sp>
        <p:sp>
          <p:nvSpPr>
            <p:cNvPr id="17" name="TextBox 17"/>
            <p:cNvSpPr txBox="1"/>
            <p:nvPr/>
          </p:nvSpPr>
          <p:spPr>
            <a:xfrm>
              <a:off x="0" y="-38100"/>
              <a:ext cx="149745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2926133" y="5758657"/>
            <a:ext cx="5685657" cy="1052544"/>
            <a:chOff x="0" y="0"/>
            <a:chExt cx="1497457" cy="277213"/>
          </a:xfrm>
        </p:grpSpPr>
        <p:sp>
          <p:nvSpPr>
            <p:cNvPr id="19" name="Freeform 19"/>
            <p:cNvSpPr/>
            <p:nvPr/>
          </p:nvSpPr>
          <p:spPr>
            <a:xfrm>
              <a:off x="0" y="0"/>
              <a:ext cx="1497457" cy="277213"/>
            </a:xfrm>
            <a:custGeom>
              <a:avLst/>
              <a:gdLst/>
              <a:ahLst/>
              <a:cxnLst/>
              <a:rect l="l" t="t" r="r" b="b"/>
              <a:pathLst>
                <a:path w="1497457" h="277213">
                  <a:moveTo>
                    <a:pt x="69445" y="0"/>
                  </a:moveTo>
                  <a:lnTo>
                    <a:pt x="1428013" y="0"/>
                  </a:lnTo>
                  <a:cubicBezTo>
                    <a:pt x="1466366" y="0"/>
                    <a:pt x="1497457" y="31091"/>
                    <a:pt x="1497457" y="69445"/>
                  </a:cubicBezTo>
                  <a:lnTo>
                    <a:pt x="1497457" y="207769"/>
                  </a:lnTo>
                  <a:cubicBezTo>
                    <a:pt x="1497457" y="226187"/>
                    <a:pt x="1490141" y="243850"/>
                    <a:pt x="1477117" y="256873"/>
                  </a:cubicBezTo>
                  <a:cubicBezTo>
                    <a:pt x="1464094" y="269897"/>
                    <a:pt x="1446430" y="277213"/>
                    <a:pt x="1428013" y="277213"/>
                  </a:cubicBezTo>
                  <a:lnTo>
                    <a:pt x="69445" y="277213"/>
                  </a:lnTo>
                  <a:cubicBezTo>
                    <a:pt x="51027" y="277213"/>
                    <a:pt x="33363" y="269897"/>
                    <a:pt x="20340" y="256873"/>
                  </a:cubicBezTo>
                  <a:cubicBezTo>
                    <a:pt x="7316" y="243850"/>
                    <a:pt x="0" y="226187"/>
                    <a:pt x="0" y="207769"/>
                  </a:cubicBezTo>
                  <a:lnTo>
                    <a:pt x="0" y="69445"/>
                  </a:lnTo>
                  <a:cubicBezTo>
                    <a:pt x="0" y="51027"/>
                    <a:pt x="7316" y="33363"/>
                    <a:pt x="20340" y="20340"/>
                  </a:cubicBezTo>
                  <a:cubicBezTo>
                    <a:pt x="33363" y="7316"/>
                    <a:pt x="51027" y="0"/>
                    <a:pt x="69445" y="0"/>
                  </a:cubicBezTo>
                  <a:close/>
                </a:path>
              </a:pathLst>
            </a:custGeom>
            <a:solidFill>
              <a:srgbClr val="F1E7D8"/>
            </a:solidFill>
          </p:spPr>
        </p:sp>
        <p:sp>
          <p:nvSpPr>
            <p:cNvPr id="20" name="TextBox 20"/>
            <p:cNvSpPr txBox="1"/>
            <p:nvPr/>
          </p:nvSpPr>
          <p:spPr>
            <a:xfrm>
              <a:off x="0" y="-38100"/>
              <a:ext cx="1497457" cy="315313"/>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2926133" y="6900086"/>
            <a:ext cx="5685657" cy="1052544"/>
            <a:chOff x="0" y="0"/>
            <a:chExt cx="1497457" cy="277213"/>
          </a:xfrm>
        </p:grpSpPr>
        <p:sp>
          <p:nvSpPr>
            <p:cNvPr id="22" name="Freeform 22"/>
            <p:cNvSpPr/>
            <p:nvPr/>
          </p:nvSpPr>
          <p:spPr>
            <a:xfrm>
              <a:off x="0" y="0"/>
              <a:ext cx="1497457" cy="277213"/>
            </a:xfrm>
            <a:custGeom>
              <a:avLst/>
              <a:gdLst/>
              <a:ahLst/>
              <a:cxnLst/>
              <a:rect l="l" t="t" r="r" b="b"/>
              <a:pathLst>
                <a:path w="1497457" h="277213">
                  <a:moveTo>
                    <a:pt x="69445" y="0"/>
                  </a:moveTo>
                  <a:lnTo>
                    <a:pt x="1428013" y="0"/>
                  </a:lnTo>
                  <a:cubicBezTo>
                    <a:pt x="1466366" y="0"/>
                    <a:pt x="1497457" y="31091"/>
                    <a:pt x="1497457" y="69445"/>
                  </a:cubicBezTo>
                  <a:lnTo>
                    <a:pt x="1497457" y="207769"/>
                  </a:lnTo>
                  <a:cubicBezTo>
                    <a:pt x="1497457" y="226187"/>
                    <a:pt x="1490141" y="243850"/>
                    <a:pt x="1477117" y="256873"/>
                  </a:cubicBezTo>
                  <a:cubicBezTo>
                    <a:pt x="1464094" y="269897"/>
                    <a:pt x="1446430" y="277213"/>
                    <a:pt x="1428013" y="277213"/>
                  </a:cubicBezTo>
                  <a:lnTo>
                    <a:pt x="69445" y="277213"/>
                  </a:lnTo>
                  <a:cubicBezTo>
                    <a:pt x="51027" y="277213"/>
                    <a:pt x="33363" y="269897"/>
                    <a:pt x="20340" y="256873"/>
                  </a:cubicBezTo>
                  <a:cubicBezTo>
                    <a:pt x="7316" y="243850"/>
                    <a:pt x="0" y="226187"/>
                    <a:pt x="0" y="207769"/>
                  </a:cubicBezTo>
                  <a:lnTo>
                    <a:pt x="0" y="69445"/>
                  </a:lnTo>
                  <a:cubicBezTo>
                    <a:pt x="0" y="51027"/>
                    <a:pt x="7316" y="33363"/>
                    <a:pt x="20340" y="20340"/>
                  </a:cubicBezTo>
                  <a:cubicBezTo>
                    <a:pt x="33363" y="7316"/>
                    <a:pt x="51027" y="0"/>
                    <a:pt x="69445" y="0"/>
                  </a:cubicBezTo>
                  <a:close/>
                </a:path>
              </a:pathLst>
            </a:custGeom>
            <a:solidFill>
              <a:srgbClr val="F1E7D8"/>
            </a:solidFill>
          </p:spPr>
        </p:sp>
        <p:sp>
          <p:nvSpPr>
            <p:cNvPr id="23" name="TextBox 23"/>
            <p:cNvSpPr txBox="1"/>
            <p:nvPr/>
          </p:nvSpPr>
          <p:spPr>
            <a:xfrm>
              <a:off x="0" y="-38100"/>
              <a:ext cx="1497457" cy="315313"/>
            </a:xfrm>
            <a:prstGeom prst="rect">
              <a:avLst/>
            </a:prstGeom>
          </p:spPr>
          <p:txBody>
            <a:bodyPr lIns="50800" tIns="50800" rIns="50800" bIns="50800" rtlCol="0" anchor="ctr"/>
            <a:lstStyle/>
            <a:p>
              <a:pPr algn="ctr">
                <a:lnSpc>
                  <a:spcPts val="2659"/>
                </a:lnSpc>
                <a:spcBef>
                  <a:spcPct val="0"/>
                </a:spcBef>
              </a:pPr>
              <a:endParaRPr/>
            </a:p>
          </p:txBody>
        </p:sp>
      </p:grpSp>
      <p:sp>
        <p:nvSpPr>
          <p:cNvPr id="24" name="TextBox 24"/>
          <p:cNvSpPr txBox="1"/>
          <p:nvPr/>
        </p:nvSpPr>
        <p:spPr>
          <a:xfrm>
            <a:off x="3314916" y="2412967"/>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Compassion</a:t>
            </a:r>
          </a:p>
        </p:txBody>
      </p:sp>
      <p:sp>
        <p:nvSpPr>
          <p:cNvPr id="25" name="TextBox 25"/>
          <p:cNvSpPr txBox="1"/>
          <p:nvPr/>
        </p:nvSpPr>
        <p:spPr>
          <a:xfrm>
            <a:off x="3314916" y="3554396"/>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Empathy</a:t>
            </a:r>
          </a:p>
        </p:txBody>
      </p:sp>
      <p:sp>
        <p:nvSpPr>
          <p:cNvPr id="26" name="TextBox 26"/>
          <p:cNvSpPr txBox="1"/>
          <p:nvPr/>
        </p:nvSpPr>
        <p:spPr>
          <a:xfrm>
            <a:off x="3314916" y="4695825"/>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Integrity</a:t>
            </a:r>
          </a:p>
        </p:txBody>
      </p:sp>
      <p:sp>
        <p:nvSpPr>
          <p:cNvPr id="27" name="TextBox 27"/>
          <p:cNvSpPr txBox="1"/>
          <p:nvPr/>
        </p:nvSpPr>
        <p:spPr>
          <a:xfrm>
            <a:off x="3314916" y="5837254"/>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Accountability</a:t>
            </a:r>
          </a:p>
        </p:txBody>
      </p:sp>
      <p:sp>
        <p:nvSpPr>
          <p:cNvPr id="28" name="TextBox 28"/>
          <p:cNvSpPr txBox="1"/>
          <p:nvPr/>
        </p:nvSpPr>
        <p:spPr>
          <a:xfrm>
            <a:off x="3314916" y="6978683"/>
            <a:ext cx="3959387" cy="676275"/>
          </a:xfrm>
          <a:prstGeom prst="rect">
            <a:avLst/>
          </a:prstGeom>
        </p:spPr>
        <p:txBody>
          <a:bodyPr lIns="0" tIns="0" rIns="0" bIns="0" rtlCol="0" anchor="t">
            <a:spAutoFit/>
          </a:bodyPr>
          <a:lstStyle/>
          <a:p>
            <a:pPr marL="647700" lvl="1" indent="-323850" algn="l">
              <a:lnSpc>
                <a:spcPts val="5850"/>
              </a:lnSpc>
              <a:buFont typeface="Arial"/>
              <a:buChar char="•"/>
            </a:pPr>
            <a:r>
              <a:rPr lang="en-US" sz="3000">
                <a:solidFill>
                  <a:srgbClr val="234157"/>
                </a:solidFill>
                <a:latin typeface="Lato"/>
                <a:ea typeface="Lato"/>
                <a:cs typeface="Lato"/>
                <a:sym typeface="Lato"/>
              </a:rPr>
              <a:t>Respect &amp; Dignity</a:t>
            </a:r>
          </a:p>
        </p:txBody>
      </p:sp>
      <p:sp>
        <p:nvSpPr>
          <p:cNvPr id="29" name="Freeform 29"/>
          <p:cNvSpPr/>
          <p:nvPr/>
        </p:nvSpPr>
        <p:spPr>
          <a:xfrm>
            <a:off x="9017354" y="2772505"/>
            <a:ext cx="1239231" cy="4768153"/>
          </a:xfrm>
          <a:custGeom>
            <a:avLst/>
            <a:gdLst/>
            <a:ahLst/>
            <a:cxnLst/>
            <a:rect l="l" t="t" r="r" b="b"/>
            <a:pathLst>
              <a:path w="1239231" h="4768153">
                <a:moveTo>
                  <a:pt x="126646" y="4768153"/>
                </a:moveTo>
                <a:lnTo>
                  <a:pt x="1010632" y="4768153"/>
                </a:lnTo>
                <a:cubicBezTo>
                  <a:pt x="1136884" y="4768153"/>
                  <a:pt x="1239232" y="4665805"/>
                  <a:pt x="1239232" y="4539553"/>
                </a:cubicBezTo>
                <a:lnTo>
                  <a:pt x="1239232" y="228600"/>
                </a:lnTo>
                <a:cubicBezTo>
                  <a:pt x="1239232" y="167972"/>
                  <a:pt x="1215147" y="109826"/>
                  <a:pt x="1172276" y="66956"/>
                </a:cubicBezTo>
                <a:cubicBezTo>
                  <a:pt x="1129406" y="24085"/>
                  <a:pt x="1071260" y="0"/>
                  <a:pt x="1010632" y="0"/>
                </a:cubicBezTo>
                <a:lnTo>
                  <a:pt x="0" y="0"/>
                </a:lnTo>
              </a:path>
            </a:pathLst>
          </a:custGeom>
          <a:ln w="38100" cap="flat">
            <a:solidFill>
              <a:srgbClr val="000000"/>
            </a:solidFill>
            <a:prstDash val="solid"/>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10064994" y="3609975"/>
            <a:ext cx="5424520" cy="2895600"/>
          </a:xfrm>
          <a:prstGeom prst="rect">
            <a:avLst/>
          </a:prstGeom>
        </p:spPr>
        <p:txBody>
          <a:bodyPr lIns="0" tIns="0" rIns="0" bIns="0" rtlCol="0" anchor="t">
            <a:spAutoFit/>
          </a:bodyPr>
          <a:lstStyle/>
          <a:p>
            <a:pPr marL="518160" lvl="1" indent="-259080" algn="l">
              <a:lnSpc>
                <a:spcPts val="4680"/>
              </a:lnSpc>
              <a:buFont typeface="Arial"/>
              <a:buChar char="•"/>
            </a:pPr>
            <a:r>
              <a:rPr lang="en-US" sz="2400">
                <a:solidFill>
                  <a:srgbClr val="234157"/>
                </a:solidFill>
                <a:latin typeface="Lato"/>
                <a:ea typeface="Lato"/>
                <a:cs typeface="Lato"/>
                <a:sym typeface="Lato"/>
              </a:rPr>
              <a:t>Hand hygiene</a:t>
            </a:r>
          </a:p>
          <a:p>
            <a:pPr marL="518160" lvl="1" indent="-259080" algn="l">
              <a:lnSpc>
                <a:spcPts val="4680"/>
              </a:lnSpc>
              <a:buFont typeface="Arial"/>
              <a:buChar char="•"/>
            </a:pPr>
            <a:r>
              <a:rPr lang="en-US" sz="2400">
                <a:solidFill>
                  <a:srgbClr val="234157"/>
                </a:solidFill>
                <a:latin typeface="Lato"/>
                <a:ea typeface="Lato"/>
                <a:cs typeface="Lato"/>
                <a:sym typeface="Lato"/>
              </a:rPr>
              <a:t>Accurate documentation</a:t>
            </a:r>
          </a:p>
          <a:p>
            <a:pPr marL="518160" lvl="1" indent="-259080" algn="l">
              <a:lnSpc>
                <a:spcPts val="4680"/>
              </a:lnSpc>
              <a:buFont typeface="Arial"/>
              <a:buChar char="•"/>
            </a:pPr>
            <a:r>
              <a:rPr lang="en-US" sz="2400">
                <a:solidFill>
                  <a:srgbClr val="234157"/>
                </a:solidFill>
                <a:latin typeface="Lato"/>
                <a:ea typeface="Lato"/>
                <a:cs typeface="Lato"/>
                <a:sym typeface="Lato"/>
              </a:rPr>
              <a:t>Safe medication administration</a:t>
            </a:r>
          </a:p>
          <a:p>
            <a:pPr marL="518160" lvl="1" indent="-259080" algn="l">
              <a:lnSpc>
                <a:spcPts val="4680"/>
              </a:lnSpc>
              <a:buFont typeface="Arial"/>
              <a:buChar char="•"/>
            </a:pPr>
            <a:r>
              <a:rPr lang="en-US" sz="2400">
                <a:solidFill>
                  <a:srgbClr val="234157"/>
                </a:solidFill>
                <a:latin typeface="Lato"/>
                <a:ea typeface="Lato"/>
                <a:cs typeface="Lato"/>
                <a:sym typeface="Lato"/>
              </a:rPr>
              <a:t>Infection control</a:t>
            </a:r>
          </a:p>
          <a:p>
            <a:pPr marL="518160" lvl="1" indent="-259080" algn="l">
              <a:lnSpc>
                <a:spcPts val="4680"/>
              </a:lnSpc>
              <a:buFont typeface="Arial"/>
              <a:buChar char="•"/>
            </a:pPr>
            <a:r>
              <a:rPr lang="en-US" sz="2400">
                <a:solidFill>
                  <a:srgbClr val="234157"/>
                </a:solidFill>
                <a:latin typeface="Lato"/>
                <a:ea typeface="Lato"/>
                <a:cs typeface="Lato"/>
                <a:sym typeface="Lato"/>
              </a:rPr>
              <a:t>Monitoring vital signs</a:t>
            </a:r>
          </a:p>
        </p:txBody>
      </p:sp>
      <p:sp>
        <p:nvSpPr>
          <p:cNvPr id="9" name="TextBox 9"/>
          <p:cNvSpPr txBox="1"/>
          <p:nvPr/>
        </p:nvSpPr>
        <p:spPr>
          <a:xfrm>
            <a:off x="3169004" y="4339590"/>
            <a:ext cx="5417199" cy="1674495"/>
          </a:xfrm>
          <a:prstGeom prst="rect">
            <a:avLst/>
          </a:prstGeom>
        </p:spPr>
        <p:txBody>
          <a:bodyPr lIns="0" tIns="0" rIns="0" bIns="0" rtlCol="0" anchor="t">
            <a:spAutoFit/>
          </a:bodyPr>
          <a:lstStyle/>
          <a:p>
            <a:pPr algn="l">
              <a:lnSpc>
                <a:spcPts val="6540"/>
              </a:lnSpc>
            </a:pPr>
            <a:r>
              <a:rPr lang="en-US" sz="6000" b="1">
                <a:solidFill>
                  <a:srgbClr val="234157"/>
                </a:solidFill>
                <a:latin typeface="Playfair Display Bold"/>
                <a:ea typeface="Playfair Display Bold"/>
                <a:cs typeface="Playfair Display Bold"/>
                <a:sym typeface="Playfair Display Bold"/>
              </a:rPr>
              <a:t>Patient Safety Practices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3309864" y="1095375"/>
            <a:ext cx="11668271" cy="845820"/>
          </a:xfrm>
          <a:prstGeom prst="rect">
            <a:avLst/>
          </a:prstGeom>
        </p:spPr>
        <p:txBody>
          <a:bodyPr lIns="0" tIns="0" rIns="0" bIns="0" rtlCol="0" anchor="t">
            <a:spAutoFit/>
          </a:bodyPr>
          <a:lstStyle/>
          <a:p>
            <a:pPr algn="ctr">
              <a:lnSpc>
                <a:spcPts val="6540"/>
              </a:lnSpc>
            </a:pPr>
            <a:r>
              <a:rPr lang="en-US" sz="6000" b="1">
                <a:solidFill>
                  <a:srgbClr val="234157"/>
                </a:solidFill>
                <a:latin typeface="Playfair Display Bold"/>
                <a:ea typeface="Playfair Display Bold"/>
                <a:cs typeface="Playfair Display Bold"/>
                <a:sym typeface="Playfair Display Bold"/>
              </a:rPr>
              <a:t>Communication in Nursing</a:t>
            </a:r>
          </a:p>
        </p:txBody>
      </p:sp>
      <p:sp>
        <p:nvSpPr>
          <p:cNvPr id="9" name="TextBox 9"/>
          <p:cNvSpPr txBox="1"/>
          <p:nvPr/>
        </p:nvSpPr>
        <p:spPr>
          <a:xfrm>
            <a:off x="4359682" y="2821305"/>
            <a:ext cx="9568636" cy="4596765"/>
          </a:xfrm>
          <a:prstGeom prst="rect">
            <a:avLst/>
          </a:prstGeom>
        </p:spPr>
        <p:txBody>
          <a:bodyPr lIns="0" tIns="0" rIns="0" bIns="0" rtlCol="0" anchor="t">
            <a:spAutoFit/>
          </a:bodyPr>
          <a:lstStyle/>
          <a:p>
            <a:pPr algn="ctr">
              <a:lnSpc>
                <a:spcPts val="3359"/>
              </a:lnSpc>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a:t>
            </a:r>
          </a:p>
          <a:p>
            <a:pPr algn="ctr">
              <a:lnSpc>
                <a:spcPts val="3359"/>
              </a:lnSpc>
            </a:pPr>
            <a:endParaRPr lang="en-US" sz="2400">
              <a:solidFill>
                <a:srgbClr val="234157"/>
              </a:solidFill>
              <a:latin typeface="Lato"/>
              <a:ea typeface="Lato"/>
              <a:cs typeface="Lato"/>
              <a:sym typeface="Lato"/>
            </a:endParaRPr>
          </a:p>
          <a:p>
            <a:pPr algn="ctr">
              <a:lnSpc>
                <a:spcPts val="3359"/>
              </a:lnSpc>
            </a:pPr>
            <a:r>
              <a:rPr lang="en-US" sz="2400">
                <a:solidFill>
                  <a:srgbClr val="234157"/>
                </a:solidFill>
                <a:latin typeface="Lato"/>
                <a:ea typeface="Lato"/>
                <a:cs typeface="Lato"/>
                <a:sym typeface="Lato"/>
              </a:rPr>
              <a:t>Etiam et elit nulla. Vivamus vehicula arcu quis erat imperdiet, sit amet mollis est efficitur. Suspendisse at arcu ac mauris tempor accumsan sed non nunc. Suspendisse cursus feugiat est et interdum. Proin sodales nulla nec nisl imperdiet, accumsan suscipit magna sollicitudin.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3309864" y="1095375"/>
            <a:ext cx="11668271" cy="845820"/>
          </a:xfrm>
          <a:prstGeom prst="rect">
            <a:avLst/>
          </a:prstGeom>
        </p:spPr>
        <p:txBody>
          <a:bodyPr lIns="0" tIns="0" rIns="0" bIns="0" rtlCol="0" anchor="t">
            <a:spAutoFit/>
          </a:bodyPr>
          <a:lstStyle/>
          <a:p>
            <a:pPr algn="ctr">
              <a:lnSpc>
                <a:spcPts val="6540"/>
              </a:lnSpc>
            </a:pPr>
            <a:r>
              <a:rPr lang="en-US" sz="6000" b="1">
                <a:solidFill>
                  <a:srgbClr val="234157"/>
                </a:solidFill>
                <a:latin typeface="Playfair Display Bold"/>
                <a:ea typeface="Playfair Display Bold"/>
                <a:cs typeface="Playfair Display Bold"/>
                <a:sym typeface="Playfair Display Bold"/>
              </a:rPr>
              <a:t>Challenges in Nursing</a:t>
            </a:r>
          </a:p>
        </p:txBody>
      </p:sp>
      <p:sp>
        <p:nvSpPr>
          <p:cNvPr id="9" name="TextBox 9"/>
          <p:cNvSpPr txBox="1"/>
          <p:nvPr/>
        </p:nvSpPr>
        <p:spPr>
          <a:xfrm>
            <a:off x="4557989" y="2812602"/>
            <a:ext cx="9172022" cy="124396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a:t>
            </a:r>
          </a:p>
        </p:txBody>
      </p:sp>
      <p:sp>
        <p:nvSpPr>
          <p:cNvPr id="10" name="TextBox 10"/>
          <p:cNvSpPr txBox="1"/>
          <p:nvPr/>
        </p:nvSpPr>
        <p:spPr>
          <a:xfrm>
            <a:off x="4557989" y="4497705"/>
            <a:ext cx="9172022" cy="124396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a:t>
            </a:r>
          </a:p>
        </p:txBody>
      </p:sp>
      <p:sp>
        <p:nvSpPr>
          <p:cNvPr id="11" name="TextBox 11"/>
          <p:cNvSpPr txBox="1"/>
          <p:nvPr/>
        </p:nvSpPr>
        <p:spPr>
          <a:xfrm>
            <a:off x="4557989" y="6182808"/>
            <a:ext cx="9172022" cy="124396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4400552" y="1095375"/>
            <a:ext cx="9486895" cy="845820"/>
          </a:xfrm>
          <a:prstGeom prst="rect">
            <a:avLst/>
          </a:prstGeom>
        </p:spPr>
        <p:txBody>
          <a:bodyPr lIns="0" tIns="0" rIns="0" bIns="0" rtlCol="0" anchor="t">
            <a:spAutoFit/>
          </a:bodyPr>
          <a:lstStyle/>
          <a:p>
            <a:pPr algn="ctr">
              <a:lnSpc>
                <a:spcPts val="6540"/>
              </a:lnSpc>
            </a:pPr>
            <a:r>
              <a:rPr lang="en-US" sz="6000" b="1">
                <a:solidFill>
                  <a:srgbClr val="234157"/>
                </a:solidFill>
                <a:latin typeface="Playfair Display Bold"/>
                <a:ea typeface="Playfair Display Bold"/>
                <a:cs typeface="Playfair Display Bold"/>
                <a:sym typeface="Playfair Display Bold"/>
              </a:rPr>
              <a:t>Future of Nursing</a:t>
            </a:r>
          </a:p>
        </p:txBody>
      </p:sp>
      <p:sp>
        <p:nvSpPr>
          <p:cNvPr id="9" name="TextBox 9"/>
          <p:cNvSpPr txBox="1"/>
          <p:nvPr/>
        </p:nvSpPr>
        <p:spPr>
          <a:xfrm>
            <a:off x="3118482" y="2821305"/>
            <a:ext cx="5255462" cy="4596765"/>
          </a:xfrm>
          <a:prstGeom prst="rect">
            <a:avLst/>
          </a:prstGeom>
        </p:spPr>
        <p:txBody>
          <a:bodyPr lIns="0" tIns="0" rIns="0" bIns="0" rtlCol="0" anchor="t">
            <a:spAutoFit/>
          </a:bodyPr>
          <a:lstStyle/>
          <a:p>
            <a:pPr algn="l">
              <a:lnSpc>
                <a:spcPts val="3359"/>
              </a:lnSpc>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a:t>
            </a:r>
          </a:p>
        </p:txBody>
      </p:sp>
      <p:sp>
        <p:nvSpPr>
          <p:cNvPr id="10" name="TextBox 10"/>
          <p:cNvSpPr txBox="1"/>
          <p:nvPr/>
        </p:nvSpPr>
        <p:spPr>
          <a:xfrm>
            <a:off x="9914056" y="2821305"/>
            <a:ext cx="5255462" cy="4596765"/>
          </a:xfrm>
          <a:prstGeom prst="rect">
            <a:avLst/>
          </a:prstGeom>
        </p:spPr>
        <p:txBody>
          <a:bodyPr lIns="0" tIns="0" rIns="0" bIns="0" rtlCol="0" anchor="t">
            <a:spAutoFit/>
          </a:bodyPr>
          <a:lstStyle/>
          <a:p>
            <a:pPr algn="l">
              <a:lnSpc>
                <a:spcPts val="3359"/>
              </a:lnSpc>
            </a:pPr>
            <a:r>
              <a:rPr lang="en-US" sz="2400">
                <a:solidFill>
                  <a:srgbClr val="234157"/>
                </a:solidFill>
                <a:latin typeface="Lato"/>
                <a:ea typeface="Lato"/>
                <a:cs typeface="Lato"/>
                <a:sym typeface="Lato"/>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4C3B2"/>
        </a:solidFill>
        <a:effectLst/>
      </p:bgPr>
    </p:bg>
    <p:spTree>
      <p:nvGrpSpPr>
        <p:cNvPr id="1" name=""/>
        <p:cNvGrpSpPr/>
        <p:nvPr/>
      </p:nvGrpSpPr>
      <p:grpSpPr>
        <a:xfrm>
          <a:off x="0" y="0"/>
          <a:ext cx="0" cy="0"/>
          <a:chOff x="0" y="0"/>
          <a:chExt cx="0" cy="0"/>
        </a:xfrm>
      </p:grpSpPr>
      <p:sp>
        <p:nvSpPr>
          <p:cNvPr id="2" name="Freeform 2"/>
          <p:cNvSpPr/>
          <p:nvPr/>
        </p:nvSpPr>
        <p:spPr>
          <a:xfrm rot="10035350">
            <a:off x="-2237827" y="5294710"/>
            <a:ext cx="10813661" cy="10400776"/>
          </a:xfrm>
          <a:custGeom>
            <a:avLst/>
            <a:gdLst/>
            <a:ahLst/>
            <a:cxnLst/>
            <a:rect l="l" t="t" r="r" b="b"/>
            <a:pathLst>
              <a:path w="10813661" h="10400776">
                <a:moveTo>
                  <a:pt x="0" y="0"/>
                </a:moveTo>
                <a:lnTo>
                  <a:pt x="10813661" y="0"/>
                </a:lnTo>
                <a:lnTo>
                  <a:pt x="10813661" y="10400775"/>
                </a:lnTo>
                <a:lnTo>
                  <a:pt x="0" y="1040077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638106" y="6380297"/>
            <a:ext cx="4144945" cy="4114800"/>
          </a:xfrm>
          <a:custGeom>
            <a:avLst/>
            <a:gdLst/>
            <a:ahLst/>
            <a:cxnLst/>
            <a:rect l="l" t="t" r="r" b="b"/>
            <a:pathLst>
              <a:path w="4144945" h="4114800">
                <a:moveTo>
                  <a:pt x="0" y="0"/>
                </a:moveTo>
                <a:lnTo>
                  <a:pt x="4144945" y="0"/>
                </a:lnTo>
                <a:lnTo>
                  <a:pt x="4144945"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9144000" y="-3226540"/>
            <a:ext cx="10813661" cy="10400776"/>
          </a:xfrm>
          <a:custGeom>
            <a:avLst/>
            <a:gdLst/>
            <a:ahLst/>
            <a:cxnLst/>
            <a:rect l="l" t="t" r="r" b="b"/>
            <a:pathLst>
              <a:path w="10813661" h="10400776">
                <a:moveTo>
                  <a:pt x="0" y="0"/>
                </a:moveTo>
                <a:lnTo>
                  <a:pt x="10813661" y="0"/>
                </a:lnTo>
                <a:lnTo>
                  <a:pt x="10813661" y="10400776"/>
                </a:lnTo>
                <a:lnTo>
                  <a:pt x="0" y="104007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rot="-1673689">
            <a:off x="15987251" y="713092"/>
            <a:ext cx="2866768" cy="3991702"/>
          </a:xfrm>
          <a:custGeom>
            <a:avLst/>
            <a:gdLst/>
            <a:ahLst/>
            <a:cxnLst/>
            <a:rect l="l" t="t" r="r" b="b"/>
            <a:pathLst>
              <a:path w="2866768" h="3991702">
                <a:moveTo>
                  <a:pt x="0" y="0"/>
                </a:moveTo>
                <a:lnTo>
                  <a:pt x="2866767" y="0"/>
                </a:lnTo>
                <a:lnTo>
                  <a:pt x="2866767" y="3991702"/>
                </a:lnTo>
                <a:lnTo>
                  <a:pt x="0" y="399170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489514" y="7641974"/>
            <a:ext cx="3539572" cy="2645026"/>
          </a:xfrm>
          <a:custGeom>
            <a:avLst/>
            <a:gdLst/>
            <a:ahLst/>
            <a:cxnLst/>
            <a:rect l="l" t="t" r="r" b="b"/>
            <a:pathLst>
              <a:path w="3539572" h="2645026">
                <a:moveTo>
                  <a:pt x="0" y="0"/>
                </a:moveTo>
                <a:lnTo>
                  <a:pt x="3539572" y="0"/>
                </a:lnTo>
                <a:lnTo>
                  <a:pt x="3539572" y="2645026"/>
                </a:lnTo>
                <a:lnTo>
                  <a:pt x="0" y="264502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638106" y="0"/>
            <a:ext cx="3807110" cy="3717124"/>
          </a:xfrm>
          <a:custGeom>
            <a:avLst/>
            <a:gdLst/>
            <a:ahLst/>
            <a:cxnLst/>
            <a:rect l="l" t="t" r="r" b="b"/>
            <a:pathLst>
              <a:path w="3807110" h="3717124">
                <a:moveTo>
                  <a:pt x="0" y="0"/>
                </a:moveTo>
                <a:lnTo>
                  <a:pt x="3807110" y="0"/>
                </a:lnTo>
                <a:lnTo>
                  <a:pt x="3807110" y="3717124"/>
                </a:lnTo>
                <a:lnTo>
                  <a:pt x="0" y="3717124"/>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TextBox 8"/>
          <p:cNvSpPr txBox="1"/>
          <p:nvPr/>
        </p:nvSpPr>
        <p:spPr>
          <a:xfrm>
            <a:off x="4862088" y="3124200"/>
            <a:ext cx="8563823" cy="4200525"/>
          </a:xfrm>
          <a:prstGeom prst="rect">
            <a:avLst/>
          </a:prstGeom>
        </p:spPr>
        <p:txBody>
          <a:bodyPr lIns="0" tIns="0" rIns="0" bIns="0" rtlCol="0" anchor="t">
            <a:spAutoFit/>
          </a:bodyPr>
          <a:lstStyle/>
          <a:p>
            <a:pPr algn="ctr">
              <a:lnSpc>
                <a:spcPts val="16350"/>
              </a:lnSpc>
            </a:pPr>
            <a:r>
              <a:rPr lang="en-US" sz="15000" b="1">
                <a:solidFill>
                  <a:srgbClr val="234157"/>
                </a:solidFill>
                <a:latin typeface="Playfair Display Bold"/>
                <a:ea typeface="Playfair Display Bold"/>
                <a:cs typeface="Playfair Display Bold"/>
                <a:sym typeface="Playfair Display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628</Words>
  <Application>Microsoft Office PowerPoint</Application>
  <PresentationFormat>Custom</PresentationFormat>
  <Paragraphs>69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Arial</vt:lpstr>
      <vt:lpstr>Lato</vt:lpstr>
      <vt:lpstr>Lato Bold</vt:lpstr>
      <vt:lpstr>Playfair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Modern Illustrative Professional Nursing Care Presentation</dc:title>
  <cp:lastModifiedBy>ADVANCE</cp:lastModifiedBy>
  <cp:revision>7</cp:revision>
  <dcterms:created xsi:type="dcterms:W3CDTF">2006-08-16T00:00:00Z</dcterms:created>
  <dcterms:modified xsi:type="dcterms:W3CDTF">2026-08-29T04:59:01Z</dcterms:modified>
  <dc:identifier>DAHTo5oV_60</dc:identifier>
</cp:coreProperties>
</file>